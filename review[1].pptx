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1" r:id="rId1"/>
  </p:sldMasterIdLst>
  <p:notesMasterIdLst>
    <p:notesMasterId r:id="rId31"/>
  </p:notesMasterIdLst>
  <p:sldIdLst>
    <p:sldId id="272" r:id="rId2"/>
    <p:sldId id="257" r:id="rId3"/>
    <p:sldId id="258" r:id="rId4"/>
    <p:sldId id="259" r:id="rId5"/>
    <p:sldId id="283" r:id="rId6"/>
    <p:sldId id="284" r:id="rId7"/>
    <p:sldId id="260" r:id="rId8"/>
    <p:sldId id="285" r:id="rId9"/>
    <p:sldId id="261" r:id="rId10"/>
    <p:sldId id="287" r:id="rId11"/>
    <p:sldId id="267" r:id="rId12"/>
    <p:sldId id="282" r:id="rId13"/>
    <p:sldId id="268" r:id="rId14"/>
    <p:sldId id="269" r:id="rId15"/>
    <p:sldId id="270" r:id="rId16"/>
    <p:sldId id="271" r:id="rId17"/>
    <p:sldId id="286" r:id="rId18"/>
    <p:sldId id="262" r:id="rId19"/>
    <p:sldId id="263" r:id="rId20"/>
    <p:sldId id="264" r:id="rId21"/>
    <p:sldId id="278" r:id="rId22"/>
    <p:sldId id="274" r:id="rId23"/>
    <p:sldId id="277" r:id="rId24"/>
    <p:sldId id="276" r:id="rId25"/>
    <p:sldId id="273" r:id="rId26"/>
    <p:sldId id="265" r:id="rId27"/>
    <p:sldId id="281" r:id="rId28"/>
    <p:sldId id="279" r:id="rId29"/>
    <p:sldId id="28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56EA59E-D5FE-47FA-8190-DCE433CD6C82}">
          <p14:sldIdLst>
            <p14:sldId id="272"/>
            <p14:sldId id="257"/>
            <p14:sldId id="258"/>
            <p14:sldId id="259"/>
            <p14:sldId id="283"/>
            <p14:sldId id="284"/>
            <p14:sldId id="260"/>
            <p14:sldId id="285"/>
          </p14:sldIdLst>
        </p14:section>
        <p14:section name="Untitled Section" id="{FA835BC9-2497-4987-8DEB-C25944F687A8}">
          <p14:sldIdLst>
            <p14:sldId id="261"/>
            <p14:sldId id="287"/>
            <p14:sldId id="267"/>
            <p14:sldId id="282"/>
            <p14:sldId id="268"/>
            <p14:sldId id="269"/>
            <p14:sldId id="270"/>
            <p14:sldId id="271"/>
            <p14:sldId id="286"/>
            <p14:sldId id="262"/>
            <p14:sldId id="263"/>
            <p14:sldId id="264"/>
            <p14:sldId id="278"/>
            <p14:sldId id="274"/>
            <p14:sldId id="277"/>
            <p14:sldId id="276"/>
            <p14:sldId id="273"/>
            <p14:sldId id="265"/>
            <p14:sldId id="281"/>
            <p14:sldId id="279"/>
            <p14:sldId id="28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snapToGrid="0">
      <p:cViewPr varScale="1">
        <p:scale>
          <a:sx n="83" d="100"/>
          <a:sy n="83" d="100"/>
        </p:scale>
        <p:origin x="408" y="5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02A8A-45C8-4210-A1D7-B51F8BE0C51D}" type="datetimeFigureOut">
              <a:rPr lang="en-US" smtClean="0"/>
              <a:pPr/>
              <a:t>10/22/2025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A86EBF-EFD0-42DD-B157-DFB92660A3E9}" type="slidenum">
              <a:rPr lang="en-US" smtClean="0"/>
              <a:pPr/>
              <a:t>‹#›</a:t>
            </a:fld>
            <a:endParaRPr lang="en-US"/>
          </a:p>
        </p:txBody>
      </p:sp>
    </p:spTree>
    <p:extLst>
      <p:ext uri="{BB962C8B-B14F-4D97-AF65-F5344CB8AC3E}">
        <p14:creationId xmlns:p14="http://schemas.microsoft.com/office/powerpoint/2010/main" val="407464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A86EBF-EFD0-42DD-B157-DFB92660A3E9}" type="slidenum">
              <a:rPr lang="en-US" smtClean="0"/>
              <a:pPr/>
              <a:t>17</a:t>
            </a:fld>
            <a:endParaRPr lang="en-US"/>
          </a:p>
        </p:txBody>
      </p:sp>
    </p:spTree>
    <p:extLst>
      <p:ext uri="{BB962C8B-B14F-4D97-AF65-F5344CB8AC3E}">
        <p14:creationId xmlns:p14="http://schemas.microsoft.com/office/powerpoint/2010/main" val="3636604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F807A-B4B5-42CD-9E44-660C4A53D175}" type="slidenum">
              <a:rPr lang="en-US" smtClean="0"/>
              <a:pPr/>
              <a:t>‹#›</a:t>
            </a:fld>
            <a:endParaRPr lang="en-US"/>
          </a:p>
        </p:txBody>
      </p:sp>
    </p:spTree>
    <p:extLst>
      <p:ext uri="{BB962C8B-B14F-4D97-AF65-F5344CB8AC3E}">
        <p14:creationId xmlns:p14="http://schemas.microsoft.com/office/powerpoint/2010/main" val="2348265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F807A-B4B5-42CD-9E44-660C4A53D175}" type="slidenum">
              <a:rPr lang="en-US" smtClean="0"/>
              <a:pPr/>
              <a:t>‹#›</a:t>
            </a:fld>
            <a:endParaRPr lang="en-US"/>
          </a:p>
        </p:txBody>
      </p:sp>
    </p:spTree>
    <p:extLst>
      <p:ext uri="{BB962C8B-B14F-4D97-AF65-F5344CB8AC3E}">
        <p14:creationId xmlns:p14="http://schemas.microsoft.com/office/powerpoint/2010/main" val="252317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F807A-B4B5-42CD-9E44-660C4A53D175}" type="slidenum">
              <a:rPr lang="en-US" smtClean="0"/>
              <a:pPr/>
              <a:t>‹#›</a:t>
            </a:fld>
            <a:endParaRPr lang="en-US"/>
          </a:p>
        </p:txBody>
      </p:sp>
    </p:spTree>
    <p:extLst>
      <p:ext uri="{BB962C8B-B14F-4D97-AF65-F5344CB8AC3E}">
        <p14:creationId xmlns:p14="http://schemas.microsoft.com/office/powerpoint/2010/main" val="299618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CF807A-B4B5-42CD-9E44-660C4A53D175}" type="slidenum">
              <a:rPr lang="en-US" smtClean="0"/>
              <a:pPr/>
              <a:t>‹#›</a:t>
            </a:fld>
            <a:endParaRPr lang="en-US"/>
          </a:p>
        </p:txBody>
      </p:sp>
    </p:spTree>
    <p:extLst>
      <p:ext uri="{BB962C8B-B14F-4D97-AF65-F5344CB8AC3E}">
        <p14:creationId xmlns:p14="http://schemas.microsoft.com/office/powerpoint/2010/main" val="4255953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CF807A-B4B5-42CD-9E44-660C4A53D175}" type="slidenum">
              <a:rPr lang="en-US" smtClean="0"/>
              <a:pPr/>
              <a:t>‹#›</a:t>
            </a:fld>
            <a:endParaRPr lang="en-US"/>
          </a:p>
        </p:txBody>
      </p:sp>
    </p:spTree>
    <p:extLst>
      <p:ext uri="{BB962C8B-B14F-4D97-AF65-F5344CB8AC3E}">
        <p14:creationId xmlns:p14="http://schemas.microsoft.com/office/powerpoint/2010/main" val="1715546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CF807A-B4B5-42CD-9E44-660C4A53D175}" type="slidenum">
              <a:rPr lang="en-US" smtClean="0"/>
              <a:pPr/>
              <a:t>‹#›</a:t>
            </a:fld>
            <a:endParaRPr lang="en-US"/>
          </a:p>
        </p:txBody>
      </p:sp>
    </p:spTree>
    <p:extLst>
      <p:ext uri="{BB962C8B-B14F-4D97-AF65-F5344CB8AC3E}">
        <p14:creationId xmlns:p14="http://schemas.microsoft.com/office/powerpoint/2010/main" val="582782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CF807A-B4B5-42CD-9E44-660C4A53D175}" type="slidenum">
              <a:rPr lang="en-US" smtClean="0"/>
              <a:pPr/>
              <a:t>‹#›</a:t>
            </a:fld>
            <a:endParaRPr lang="en-US"/>
          </a:p>
        </p:txBody>
      </p:sp>
    </p:spTree>
    <p:extLst>
      <p:ext uri="{BB962C8B-B14F-4D97-AF65-F5344CB8AC3E}">
        <p14:creationId xmlns:p14="http://schemas.microsoft.com/office/powerpoint/2010/main" val="3975772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CF807A-B4B5-42CD-9E44-660C4A53D175}" type="slidenum">
              <a:rPr lang="en-US" smtClean="0"/>
              <a:pPr/>
              <a:t>‹#›</a:t>
            </a:fld>
            <a:endParaRPr lang="en-US"/>
          </a:p>
        </p:txBody>
      </p:sp>
    </p:spTree>
    <p:extLst>
      <p:ext uri="{BB962C8B-B14F-4D97-AF65-F5344CB8AC3E}">
        <p14:creationId xmlns:p14="http://schemas.microsoft.com/office/powerpoint/2010/main" val="2574832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7CF807A-B4B5-42CD-9E44-660C4A53D175}" type="slidenum">
              <a:rPr lang="en-US" smtClean="0"/>
              <a:pPr/>
              <a:t>‹#›</a:t>
            </a:fld>
            <a:endParaRPr lang="en-US"/>
          </a:p>
        </p:txBody>
      </p:sp>
    </p:spTree>
    <p:extLst>
      <p:ext uri="{BB962C8B-B14F-4D97-AF65-F5344CB8AC3E}">
        <p14:creationId xmlns:p14="http://schemas.microsoft.com/office/powerpoint/2010/main" val="848185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F807A-B4B5-42CD-9E44-660C4A53D175}" type="slidenum">
              <a:rPr lang="en-US" smtClean="0"/>
              <a:pPr/>
              <a:t>‹#›</a:t>
            </a:fld>
            <a:endParaRPr lang="en-US"/>
          </a:p>
        </p:txBody>
      </p:sp>
    </p:spTree>
    <p:extLst>
      <p:ext uri="{BB962C8B-B14F-4D97-AF65-F5344CB8AC3E}">
        <p14:creationId xmlns:p14="http://schemas.microsoft.com/office/powerpoint/2010/main" val="3433318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F807A-B4B5-42CD-9E44-660C4A53D175}" type="slidenum">
              <a:rPr lang="en-US" smtClean="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7488998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F807A-B4B5-42CD-9E44-660C4A53D175}" type="slidenum">
              <a:rPr lang="en-US" smtClean="0"/>
              <a:pPr/>
              <a:t>‹#›</a:t>
            </a:fld>
            <a:endParaRPr lang="en-US"/>
          </a:p>
        </p:txBody>
      </p:sp>
    </p:spTree>
    <p:extLst>
      <p:ext uri="{BB962C8B-B14F-4D97-AF65-F5344CB8AC3E}">
        <p14:creationId xmlns:p14="http://schemas.microsoft.com/office/powerpoint/2010/main" val="39048037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F807A-B4B5-42CD-9E44-660C4A53D175}"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994951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F807A-B4B5-42CD-9E44-660C4A53D175}" type="slidenum">
              <a:rPr lang="en-US" smtClean="0"/>
              <a:pPr/>
              <a:t>‹#›</a:t>
            </a:fld>
            <a:endParaRPr lang="en-US"/>
          </a:p>
        </p:txBody>
      </p:sp>
    </p:spTree>
    <p:extLst>
      <p:ext uri="{BB962C8B-B14F-4D97-AF65-F5344CB8AC3E}">
        <p14:creationId xmlns:p14="http://schemas.microsoft.com/office/powerpoint/2010/main" val="27093718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F807A-B4B5-42CD-9E44-660C4A53D175}" type="slidenum">
              <a:rPr lang="en-US" smtClean="0"/>
              <a:pPr/>
              <a:t>‹#›</a:t>
            </a:fld>
            <a:endParaRPr lang="en-US"/>
          </a:p>
        </p:txBody>
      </p:sp>
    </p:spTree>
    <p:extLst>
      <p:ext uri="{BB962C8B-B14F-4D97-AF65-F5344CB8AC3E}">
        <p14:creationId xmlns:p14="http://schemas.microsoft.com/office/powerpoint/2010/main" val="32120648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0C3BB7-CB82-48F6-8B16-230761D58187}" type="datetimeFigureOut">
              <a:rPr lang="en-US" smtClean="0"/>
              <a:pPr/>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F807A-B4B5-42CD-9E44-660C4A53D175}" type="slidenum">
              <a:rPr lang="en-US" smtClean="0"/>
              <a:pPr/>
              <a:t>‹#›</a:t>
            </a:fld>
            <a:endParaRPr lang="en-US"/>
          </a:p>
        </p:txBody>
      </p:sp>
    </p:spTree>
    <p:extLst>
      <p:ext uri="{BB962C8B-B14F-4D97-AF65-F5344CB8AC3E}">
        <p14:creationId xmlns:p14="http://schemas.microsoft.com/office/powerpoint/2010/main" val="2998228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90C3BB7-CB82-48F6-8B16-230761D58187}" type="datetimeFigureOut">
              <a:rPr lang="en-US" smtClean="0"/>
              <a:pPr/>
              <a:t>10/22/2025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7CF807A-B4B5-42CD-9E44-660C4A53D175}" type="slidenum">
              <a:rPr lang="en-US" smtClean="0"/>
              <a:pPr/>
              <a:t>‹#›</a:t>
            </a:fld>
            <a:endParaRPr lang="en-US"/>
          </a:p>
        </p:txBody>
      </p:sp>
    </p:spTree>
    <p:extLst>
      <p:ext uri="{BB962C8B-B14F-4D97-AF65-F5344CB8AC3E}">
        <p14:creationId xmlns:p14="http://schemas.microsoft.com/office/powerpoint/2010/main" val="1545969080"/>
      </p:ext>
    </p:extLst>
  </p:cSld>
  <p:clrMap bg1="lt1" tx1="dk1" bg2="lt2" tx2="dk2" accent1="accent1" accent2="accent2" accent3="accent3" accent4="accent4" accent5="accent5" accent6="accent6" hlink="hlink" folHlink="folHlink"/>
  <p:sldLayoutIdLst>
    <p:sldLayoutId id="2147484022" r:id="rId1"/>
    <p:sldLayoutId id="2147484023" r:id="rId2"/>
    <p:sldLayoutId id="2147484024" r:id="rId3"/>
    <p:sldLayoutId id="2147484025" r:id="rId4"/>
    <p:sldLayoutId id="2147484026" r:id="rId5"/>
    <p:sldLayoutId id="2147484027" r:id="rId6"/>
    <p:sldLayoutId id="2147484028" r:id="rId7"/>
    <p:sldLayoutId id="2147484029" r:id="rId8"/>
    <p:sldLayoutId id="2147484030" r:id="rId9"/>
    <p:sldLayoutId id="2147484031" r:id="rId10"/>
    <p:sldLayoutId id="2147484032" r:id="rId11"/>
    <p:sldLayoutId id="2147484033" r:id="rId12"/>
    <p:sldLayoutId id="2147484034" r:id="rId13"/>
    <p:sldLayoutId id="2147484035" r:id="rId14"/>
    <p:sldLayoutId id="2147484036" r:id="rId15"/>
    <p:sldLayoutId id="214748403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3C27E93-F429-AD08-680C-3A0704E16BF0}"/>
              </a:ext>
            </a:extLst>
          </p:cNvPr>
          <p:cNvPicPr>
            <a:picLocks noChangeAspect="1"/>
          </p:cNvPicPr>
          <p:nvPr/>
        </p:nvPicPr>
        <p:blipFill>
          <a:blip r:embed="rId2"/>
          <a:stretch>
            <a:fillRect/>
          </a:stretch>
        </p:blipFill>
        <p:spPr>
          <a:xfrm>
            <a:off x="424700" y="368122"/>
            <a:ext cx="1547658" cy="1320668"/>
          </a:xfrm>
          <a:prstGeom prst="rect">
            <a:avLst/>
          </a:prstGeom>
        </p:spPr>
      </p:pic>
      <p:sp>
        <p:nvSpPr>
          <p:cNvPr id="15" name="Title 88">
            <a:extLst>
              <a:ext uri="{FF2B5EF4-FFF2-40B4-BE49-F238E27FC236}">
                <a16:creationId xmlns:a16="http://schemas.microsoft.com/office/drawing/2014/main" id="{B54CCF51-93E0-E810-8699-7DBEBA98F84B}"/>
              </a:ext>
            </a:extLst>
          </p:cNvPr>
          <p:cNvSpPr txBox="1">
            <a:spLocks/>
          </p:cNvSpPr>
          <p:nvPr/>
        </p:nvSpPr>
        <p:spPr>
          <a:xfrm>
            <a:off x="1198529" y="464102"/>
            <a:ext cx="9012682" cy="1684198"/>
          </a:xfrm>
          <a:prstGeom prst="rect">
            <a:avLst/>
          </a:prstGeom>
        </p:spPr>
        <p:txBody>
          <a:bodyP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marL="445770" algn="ctr">
              <a:lnSpc>
                <a:spcPts val="1840"/>
              </a:lnSpc>
              <a:spcBef>
                <a:spcPts val="340"/>
              </a:spcBef>
            </a:pPr>
            <a:r>
              <a:rPr lang="en-US" sz="2400" b="1" dirty="0">
                <a:solidFill>
                  <a:schemeClr val="accent4"/>
                </a:solidFill>
                <a:latin typeface="Times New Roman" panose="02020603050405020304" pitchFamily="18" charset="0"/>
                <a:ea typeface="Times New Roman" panose="02020603050405020304" pitchFamily="18" charset="0"/>
              </a:rPr>
              <a:t>D.N.R.</a:t>
            </a:r>
            <a:r>
              <a:rPr lang="en-US" sz="2400" b="1" spc="-30" dirty="0">
                <a:solidFill>
                  <a:schemeClr val="accent4"/>
                </a:solidFill>
                <a:latin typeface="Times New Roman" panose="02020603050405020304" pitchFamily="18" charset="0"/>
                <a:ea typeface="Times New Roman" panose="02020603050405020304" pitchFamily="18" charset="0"/>
              </a:rPr>
              <a:t> </a:t>
            </a:r>
            <a:r>
              <a:rPr lang="en-US" sz="2400" b="1" dirty="0">
                <a:solidFill>
                  <a:schemeClr val="accent4"/>
                </a:solidFill>
                <a:latin typeface="Times New Roman" panose="02020603050405020304" pitchFamily="18" charset="0"/>
                <a:ea typeface="Times New Roman" panose="02020603050405020304" pitchFamily="18" charset="0"/>
              </a:rPr>
              <a:t>COLLEGE</a:t>
            </a:r>
            <a:r>
              <a:rPr lang="en-US" sz="2400" b="1" spc="-45" dirty="0">
                <a:solidFill>
                  <a:schemeClr val="accent4"/>
                </a:solidFill>
                <a:latin typeface="Times New Roman" panose="02020603050405020304" pitchFamily="18" charset="0"/>
                <a:ea typeface="Times New Roman" panose="02020603050405020304" pitchFamily="18" charset="0"/>
              </a:rPr>
              <a:t> </a:t>
            </a:r>
            <a:r>
              <a:rPr lang="en-US" sz="2400" b="1" dirty="0">
                <a:solidFill>
                  <a:schemeClr val="accent4"/>
                </a:solidFill>
                <a:latin typeface="Times New Roman" panose="02020603050405020304" pitchFamily="18" charset="0"/>
                <a:ea typeface="Times New Roman" panose="02020603050405020304" pitchFamily="18" charset="0"/>
              </a:rPr>
              <a:t>OF</a:t>
            </a:r>
            <a:r>
              <a:rPr lang="en-US" sz="2400" b="1" spc="-45" dirty="0">
                <a:solidFill>
                  <a:schemeClr val="accent4"/>
                </a:solidFill>
                <a:latin typeface="Times New Roman" panose="02020603050405020304" pitchFamily="18" charset="0"/>
                <a:ea typeface="Times New Roman" panose="02020603050405020304" pitchFamily="18" charset="0"/>
              </a:rPr>
              <a:t> </a:t>
            </a:r>
            <a:r>
              <a:rPr lang="en-US" sz="2400" b="1" dirty="0">
                <a:solidFill>
                  <a:schemeClr val="accent4"/>
                </a:solidFill>
                <a:latin typeface="Times New Roman" panose="02020603050405020304" pitchFamily="18" charset="0"/>
                <a:ea typeface="Times New Roman" panose="02020603050405020304" pitchFamily="18" charset="0"/>
              </a:rPr>
              <a:t>ENGINEERING</a:t>
            </a:r>
            <a:r>
              <a:rPr lang="en-US" sz="2400" b="1" spc="-25" dirty="0">
                <a:solidFill>
                  <a:schemeClr val="accent4"/>
                </a:solidFill>
                <a:latin typeface="Times New Roman" panose="02020603050405020304" pitchFamily="18" charset="0"/>
                <a:ea typeface="Times New Roman" panose="02020603050405020304" pitchFamily="18" charset="0"/>
              </a:rPr>
              <a:t> </a:t>
            </a:r>
            <a:r>
              <a:rPr lang="en-US" sz="2400" b="1" dirty="0">
                <a:solidFill>
                  <a:schemeClr val="accent4"/>
                </a:solidFill>
                <a:latin typeface="Times New Roman" panose="02020603050405020304" pitchFamily="18" charset="0"/>
                <a:ea typeface="Times New Roman" panose="02020603050405020304" pitchFamily="18" charset="0"/>
              </a:rPr>
              <a:t>&amp;</a:t>
            </a:r>
            <a:r>
              <a:rPr lang="en-US" sz="2400" b="1" spc="-10" dirty="0">
                <a:solidFill>
                  <a:schemeClr val="accent4"/>
                </a:solidFill>
                <a:latin typeface="Times New Roman" panose="02020603050405020304" pitchFamily="18" charset="0"/>
                <a:ea typeface="Times New Roman" panose="02020603050405020304" pitchFamily="18" charset="0"/>
              </a:rPr>
              <a:t>TECHNOLOGY</a:t>
            </a:r>
            <a:br>
              <a:rPr lang="en-IN" sz="2000" dirty="0">
                <a:latin typeface="Times New Roman" panose="02020603050405020304" pitchFamily="18" charset="0"/>
                <a:ea typeface="Times New Roman" panose="02020603050405020304" pitchFamily="18" charset="0"/>
              </a:rPr>
            </a:br>
            <a:r>
              <a:rPr lang="en-US" sz="1200" dirty="0">
                <a:latin typeface="Times New Roman" panose="02020603050405020304" pitchFamily="18" charset="0"/>
                <a:ea typeface="Times New Roman" panose="02020603050405020304" pitchFamily="18" charset="0"/>
              </a:rPr>
              <a:t>(Approved by AICTE, New Delhi &amp; Affiliated to SBTET, A.P) </a:t>
            </a:r>
            <a:br>
              <a:rPr lang="en-US" sz="1200" dirty="0">
                <a:latin typeface="Times New Roman" panose="02020603050405020304" pitchFamily="18" charset="0"/>
                <a:ea typeface="Times New Roman" panose="02020603050405020304" pitchFamily="18" charset="0"/>
              </a:rPr>
            </a:br>
            <a:r>
              <a:rPr lang="en-US" sz="1200" dirty="0">
                <a:latin typeface="Times New Roman" panose="02020603050405020304" pitchFamily="18" charset="0"/>
                <a:ea typeface="Times New Roman" panose="02020603050405020304" pitchFamily="18" charset="0"/>
              </a:rPr>
              <a:t>(Accredited with NAAC A++ Grade &amp; Accredited by NBA) </a:t>
            </a:r>
            <a:br>
              <a:rPr lang="en-US" sz="1200" dirty="0">
                <a:latin typeface="Times New Roman" panose="02020603050405020304" pitchFamily="18" charset="0"/>
                <a:ea typeface="Times New Roman" panose="02020603050405020304" pitchFamily="18" charset="0"/>
              </a:rPr>
            </a:br>
            <a:r>
              <a:rPr lang="en-US" sz="1200" dirty="0" err="1">
                <a:latin typeface="Times New Roman" panose="02020603050405020304" pitchFamily="18" charset="0"/>
                <a:ea typeface="Times New Roman" panose="02020603050405020304" pitchFamily="18" charset="0"/>
              </a:rPr>
              <a:t>Balusumudi</a:t>
            </a:r>
            <a:r>
              <a:rPr lang="en-US" sz="1200" dirty="0">
                <a:latin typeface="Times New Roman" panose="02020603050405020304" pitchFamily="18" charset="0"/>
                <a:ea typeface="Times New Roman" panose="02020603050405020304" pitchFamily="18" charset="0"/>
              </a:rPr>
              <a:t>, Bhimavaram-534202, </a:t>
            </a:r>
            <a:r>
              <a:rPr lang="en-US" sz="1200" dirty="0" err="1">
                <a:latin typeface="Times New Roman" panose="02020603050405020304" pitchFamily="18" charset="0"/>
                <a:ea typeface="Times New Roman" panose="02020603050405020304" pitchFamily="18" charset="0"/>
              </a:rPr>
              <a:t>W.G.Dist</a:t>
            </a:r>
            <a:r>
              <a:rPr lang="en-US" sz="1200" dirty="0">
                <a:latin typeface="Times New Roman" panose="02020603050405020304" pitchFamily="18" charset="0"/>
                <a:ea typeface="Times New Roman" panose="02020603050405020304" pitchFamily="18" charset="0"/>
              </a:rPr>
              <a:t> A.P.,</a:t>
            </a:r>
            <a:br>
              <a:rPr lang="en-US" sz="1200" dirty="0">
                <a:latin typeface="Times New Roman" panose="02020603050405020304" pitchFamily="18" charset="0"/>
                <a:ea typeface="Times New Roman" panose="02020603050405020304" pitchFamily="18" charset="0"/>
              </a:rPr>
            </a:br>
            <a:r>
              <a:rPr lang="en-US" sz="1200" dirty="0">
                <a:latin typeface="Times New Roman" panose="02020603050405020304" pitchFamily="18" charset="0"/>
                <a:ea typeface="Times New Roman" panose="02020603050405020304" pitchFamily="18" charset="0"/>
              </a:rPr>
              <a:t>II Shift Polytechnic                   College Code: 354                    E-Mail: dnrpoly@gmail.com</a:t>
            </a:r>
            <a:endParaRPr lang="en-IN" sz="3200" dirty="0"/>
          </a:p>
        </p:txBody>
      </p:sp>
      <p:sp>
        <p:nvSpPr>
          <p:cNvPr id="16" name="TextBox 15">
            <a:extLst>
              <a:ext uri="{FF2B5EF4-FFF2-40B4-BE49-F238E27FC236}">
                <a16:creationId xmlns:a16="http://schemas.microsoft.com/office/drawing/2014/main" id="{F418911B-C691-257C-D520-7925E6169339}"/>
              </a:ext>
            </a:extLst>
          </p:cNvPr>
          <p:cNvSpPr txBox="1"/>
          <p:nvPr/>
        </p:nvSpPr>
        <p:spPr>
          <a:xfrm>
            <a:off x="495145" y="2952818"/>
            <a:ext cx="10090416" cy="923330"/>
          </a:xfrm>
          <a:prstGeom prst="rect">
            <a:avLst/>
          </a:prstGeom>
          <a:noFill/>
        </p:spPr>
        <p:txBody>
          <a:bodyPr wrap="square" rtlCol="0">
            <a:spAutoFit/>
          </a:bodyPr>
          <a:lstStyle/>
          <a:p>
            <a:pPr algn="ctr"/>
            <a:r>
              <a:rPr lang="en-IN" sz="5400" b="1" dirty="0">
                <a:latin typeface="Times New Roman" panose="02020603050405020304" pitchFamily="18" charset="0"/>
                <a:cs typeface="Times New Roman" panose="02020603050405020304" pitchFamily="18" charset="0"/>
              </a:rPr>
              <a:t>MEDIPORTAL</a:t>
            </a:r>
            <a:endParaRPr lang="en-US" sz="54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CA2015D-8408-68E9-F49B-4433FAF7D6A1}"/>
              </a:ext>
            </a:extLst>
          </p:cNvPr>
          <p:cNvSpPr txBox="1"/>
          <p:nvPr/>
        </p:nvSpPr>
        <p:spPr>
          <a:xfrm>
            <a:off x="6878320" y="4892089"/>
            <a:ext cx="3886200"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Submitted by:</a:t>
            </a:r>
          </a:p>
          <a:p>
            <a:r>
              <a:rPr lang="en-US" dirty="0">
                <a:latin typeface="Times New Roman" panose="02020603050405020304" pitchFamily="18" charset="0"/>
                <a:cs typeface="Times New Roman" panose="02020603050405020304" pitchFamily="18" charset="0"/>
              </a:rPr>
              <a:t>N.Srujana(23354-CM-016)</a:t>
            </a:r>
          </a:p>
          <a:p>
            <a:r>
              <a:rPr lang="en-US" dirty="0">
                <a:latin typeface="Times New Roman" panose="02020603050405020304" pitchFamily="18" charset="0"/>
                <a:cs typeface="Times New Roman" panose="02020603050405020304" pitchFamily="18" charset="0"/>
              </a:rPr>
              <a:t>B.Purna Chandra Rao(23354-CM-027)</a:t>
            </a:r>
          </a:p>
          <a:p>
            <a:r>
              <a:rPr lang="en-US" dirty="0">
                <a:latin typeface="Times New Roman" panose="02020603050405020304" pitchFamily="18" charset="0"/>
                <a:cs typeface="Times New Roman" panose="02020603050405020304" pitchFamily="18" charset="0"/>
              </a:rPr>
              <a:t>M.D.V.Naresh(23354-CM-042)  </a:t>
            </a:r>
          </a:p>
        </p:txBody>
      </p:sp>
    </p:spTree>
    <p:extLst>
      <p:ext uri="{BB962C8B-B14F-4D97-AF65-F5344CB8AC3E}">
        <p14:creationId xmlns:p14="http://schemas.microsoft.com/office/powerpoint/2010/main" val="2577245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8614" y="563880"/>
            <a:ext cx="10173546" cy="1371600"/>
          </a:xfrm>
          <a:ln>
            <a:solidFill>
              <a:schemeClr val="accent2"/>
            </a:solidFill>
          </a:ln>
        </p:spPr>
        <p:txBody>
          <a:bodyPr>
            <a:normAutofit/>
          </a:bodyPr>
          <a:lstStyle/>
          <a:p>
            <a:pPr>
              <a:lnSpc>
                <a:spcPct val="200000"/>
              </a:lnSpc>
            </a:pPr>
            <a:r>
              <a:rPr lang="en-US" dirty="0"/>
              <a:t> </a:t>
            </a:r>
            <a:r>
              <a:rPr lang="en-US" dirty="0">
                <a:latin typeface="Times New Roman" pitchFamily="18" charset="0"/>
                <a:cs typeface="Times New Roman" pitchFamily="18" charset="0"/>
              </a:rPr>
              <a:t>ABSTRACT</a:t>
            </a:r>
          </a:p>
        </p:txBody>
      </p:sp>
      <p:sp>
        <p:nvSpPr>
          <p:cNvPr id="3" name="Content Placeholder 2"/>
          <p:cNvSpPr>
            <a:spLocks noGrp="1"/>
          </p:cNvSpPr>
          <p:nvPr>
            <p:ph idx="1"/>
          </p:nvPr>
        </p:nvSpPr>
        <p:spPr>
          <a:xfrm>
            <a:off x="832721" y="2686928"/>
            <a:ext cx="8961519" cy="3320307"/>
          </a:xfrm>
        </p:spPr>
        <p:txBody>
          <a:bodyPr>
            <a:normAutofit/>
          </a:bodyPr>
          <a:lstStyle/>
          <a:p>
            <a:pPr marL="0" indent="0" algn="just">
              <a:buNone/>
            </a:pPr>
            <a:r>
              <a:rPr lang="en-GB" dirty="0">
                <a:solidFill>
                  <a:schemeClr val="tx1"/>
                </a:solidFill>
                <a:latin typeface="Times New Roman" pitchFamily="18" charset="0"/>
                <a:cs typeface="Times New Roman" pitchFamily="18" charset="0"/>
              </a:rPr>
              <a:t>This project outlines a simple medicine delivery system designed to demonstrate how users can place medicine orders online. It allows basic functionality such as medicine selection, prescription upload, and delivery address input without using a database. The system simulates logic through temporary storage (e.g., lists or in-memory variables) and is ideal for prototyping or educational use.</a:t>
            </a:r>
            <a:endParaRPr lang="en-US" dirty="0">
              <a:solidFill>
                <a:schemeClr val="tx1"/>
              </a:solidFill>
              <a:latin typeface="Times New Roman" pitchFamily="18" charset="0"/>
              <a:cs typeface="Times New Roman" pitchFamily="18" charset="0"/>
            </a:endParaRPr>
          </a:p>
          <a:p>
            <a:pPr marL="0" indent="0" algn="just">
              <a:buNone/>
            </a:pPr>
            <a:endParaRPr lang="en-US" dirty="0"/>
          </a:p>
        </p:txBody>
      </p:sp>
    </p:spTree>
    <p:extLst>
      <p:ext uri="{BB962C8B-B14F-4D97-AF65-F5344CB8AC3E}">
        <p14:creationId xmlns:p14="http://schemas.microsoft.com/office/powerpoint/2010/main" val="4033814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10153226" cy="1320800"/>
          </a:xfrm>
          <a:noFill/>
          <a:ln>
            <a:solidFill>
              <a:schemeClr val="accent2"/>
            </a:solidFill>
          </a:ln>
        </p:spPr>
        <p:txBody>
          <a:bodyPr/>
          <a:lstStyle/>
          <a:p>
            <a:pPr>
              <a:lnSpc>
                <a:spcPct val="200000"/>
              </a:lnSpc>
            </a:pPr>
            <a:r>
              <a:rPr lang="en-US" dirty="0"/>
              <a:t> </a:t>
            </a:r>
            <a:r>
              <a:rPr lang="en-US" dirty="0">
                <a:latin typeface="Times New Roman" pitchFamily="18" charset="0"/>
                <a:cs typeface="Times New Roman" pitchFamily="18" charset="0"/>
              </a:rPr>
              <a:t>INTRODUCTION</a:t>
            </a:r>
          </a:p>
        </p:txBody>
      </p:sp>
      <p:sp>
        <p:nvSpPr>
          <p:cNvPr id="3" name="Content Placeholder 2"/>
          <p:cNvSpPr>
            <a:spLocks noGrp="1"/>
          </p:cNvSpPr>
          <p:nvPr>
            <p:ph idx="1"/>
          </p:nvPr>
        </p:nvSpPr>
        <p:spPr>
          <a:xfrm>
            <a:off x="839894" y="2418153"/>
            <a:ext cx="8636399" cy="3599316"/>
          </a:xfrm>
        </p:spPr>
        <p:txBody>
          <a:bodyPr>
            <a:normAutofit/>
          </a:bodyPr>
          <a:lstStyle/>
          <a:p>
            <a:pPr lvl="1"/>
            <a:r>
              <a:rPr lang="en-GB" dirty="0">
                <a:solidFill>
                  <a:schemeClr val="tx1"/>
                </a:solidFill>
              </a:rPr>
              <a:t> </a:t>
            </a:r>
            <a:r>
              <a:rPr lang="en-GB" dirty="0">
                <a:solidFill>
                  <a:schemeClr val="tx1"/>
                </a:solidFill>
                <a:latin typeface="Times New Roman" pitchFamily="18" charset="0"/>
                <a:cs typeface="Times New Roman" pitchFamily="18" charset="0"/>
              </a:rPr>
              <a:t>Access to timely medication is critical to patient care.</a:t>
            </a:r>
          </a:p>
          <a:p>
            <a:pPr lvl="1">
              <a:buFont typeface="Arial" pitchFamily="34" charset="0"/>
              <a:buChar char="•"/>
            </a:pPr>
            <a:endParaRPr lang="en-GB" dirty="0">
              <a:solidFill>
                <a:schemeClr val="tx1"/>
              </a:solidFill>
              <a:latin typeface="Times New Roman" pitchFamily="18" charset="0"/>
              <a:cs typeface="Times New Roman" pitchFamily="18" charset="0"/>
            </a:endParaRPr>
          </a:p>
          <a:p>
            <a:pPr lvl="1"/>
            <a:r>
              <a:rPr lang="en-GB" dirty="0">
                <a:solidFill>
                  <a:schemeClr val="tx1"/>
                </a:solidFill>
                <a:latin typeface="Times New Roman" pitchFamily="18" charset="0"/>
                <a:cs typeface="Times New Roman" pitchFamily="18" charset="0"/>
              </a:rPr>
              <a:t> Manual systems are inefficient and often error-prone.</a:t>
            </a:r>
          </a:p>
          <a:p>
            <a:pPr lvl="1">
              <a:buFont typeface="Arial" pitchFamily="34" charset="0"/>
              <a:buChar char="•"/>
            </a:pPr>
            <a:endParaRPr lang="en-GB" dirty="0">
              <a:solidFill>
                <a:schemeClr val="tx1"/>
              </a:solidFill>
              <a:latin typeface="Times New Roman" pitchFamily="18" charset="0"/>
              <a:cs typeface="Times New Roman" pitchFamily="18" charset="0"/>
            </a:endParaRPr>
          </a:p>
          <a:p>
            <a:pPr lvl="1"/>
            <a:r>
              <a:rPr lang="en-GB" dirty="0">
                <a:solidFill>
                  <a:schemeClr val="tx1"/>
                </a:solidFill>
                <a:latin typeface="Times New Roman" pitchFamily="18" charset="0"/>
                <a:cs typeface="Times New Roman" pitchFamily="18" charset="0"/>
              </a:rPr>
              <a:t> A digital solution helps reduce delays, track orders, and improve patient adherence to medication schedules.</a:t>
            </a:r>
          </a:p>
          <a:p>
            <a:pPr lvl="1" algn="just">
              <a:buFont typeface="Arial" pitchFamily="34" charset="0"/>
              <a:buChar char="•"/>
            </a:pPr>
            <a:endParaRPr lang="en-GB" dirty="0">
              <a:solidFill>
                <a:schemeClr val="tx1"/>
              </a:solidFill>
              <a:latin typeface="Times New Roman" pitchFamily="18" charset="0"/>
              <a:cs typeface="Times New Roman" pitchFamily="18" charset="0"/>
            </a:endParaRPr>
          </a:p>
          <a:p>
            <a:pPr lvl="1" algn="just"/>
            <a:r>
              <a:rPr lang="en-GB" dirty="0">
                <a:solidFill>
                  <a:schemeClr val="tx1"/>
                </a:solidFill>
                <a:latin typeface="Times New Roman" pitchFamily="18" charset="0"/>
                <a:cs typeface="Times New Roman" pitchFamily="18" charset="0"/>
              </a:rPr>
              <a:t> Goal: Build a system that ensures safe, fast, and traceable medicine delivery </a:t>
            </a:r>
          </a:p>
          <a:p>
            <a:pPr lvl="1" algn="just">
              <a:buFont typeface="Arial" pitchFamily="34" charset="0"/>
              <a:buChar char="•"/>
            </a:pPr>
            <a:endParaRPr lang="en-GB" dirty="0">
              <a:solidFill>
                <a:schemeClr val="tx1"/>
              </a:solidFill>
              <a:latin typeface="Times New Roman" pitchFamily="18" charset="0"/>
              <a:cs typeface="Times New Roman" pitchFamily="18" charset="0"/>
            </a:endParaRPr>
          </a:p>
          <a:p>
            <a:pPr marL="0" indent="0" algn="just">
              <a:buNone/>
            </a:pPr>
            <a:endParaRPr lang="en-US" dirty="0">
              <a:solidFill>
                <a:schemeClr val="tx1"/>
              </a:solidFill>
            </a:endParaRPr>
          </a:p>
        </p:txBody>
      </p:sp>
    </p:spTree>
    <p:extLst>
      <p:ext uri="{BB962C8B-B14F-4D97-AF65-F5344CB8AC3E}">
        <p14:creationId xmlns:p14="http://schemas.microsoft.com/office/powerpoint/2010/main" val="2713052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1281" y="680720"/>
            <a:ext cx="10048640" cy="1320800"/>
          </a:xfrm>
          <a:ln>
            <a:solidFill>
              <a:schemeClr val="accent2"/>
            </a:solidFill>
          </a:ln>
        </p:spPr>
        <p:txBody>
          <a:bodyPr/>
          <a:lstStyle/>
          <a:p>
            <a:pPr>
              <a:lnSpc>
                <a:spcPct val="200000"/>
              </a:lnSpc>
            </a:pPr>
            <a:r>
              <a:rPr lang="en-US" dirty="0"/>
              <a:t> </a:t>
            </a:r>
            <a:r>
              <a:rPr lang="en-US" dirty="0">
                <a:latin typeface="Times New Roman" pitchFamily="18" charset="0"/>
                <a:cs typeface="Times New Roman" pitchFamily="18" charset="0"/>
              </a:rPr>
              <a:t>PROBLEM STATEMENT</a:t>
            </a:r>
          </a:p>
        </p:txBody>
      </p:sp>
      <p:sp>
        <p:nvSpPr>
          <p:cNvPr id="3" name="Content Placeholder 2"/>
          <p:cNvSpPr>
            <a:spLocks noGrp="1"/>
          </p:cNvSpPr>
          <p:nvPr>
            <p:ph idx="1"/>
          </p:nvPr>
        </p:nvSpPr>
        <p:spPr>
          <a:xfrm>
            <a:off x="853041" y="2509593"/>
            <a:ext cx="8748159" cy="3599316"/>
          </a:xfrm>
        </p:spPr>
        <p:txBody>
          <a:bodyPr>
            <a:normAutofit/>
          </a:bodyPr>
          <a:lstStyle/>
          <a:p>
            <a:endParaRPr lang="en-GB" dirty="0">
              <a:solidFill>
                <a:schemeClr val="tx1"/>
              </a:solidFill>
            </a:endParaRPr>
          </a:p>
          <a:p>
            <a:pPr lvl="1"/>
            <a:r>
              <a:rPr lang="en-GB" dirty="0">
                <a:solidFill>
                  <a:schemeClr val="tx1"/>
                </a:solidFill>
                <a:latin typeface="Times New Roman" pitchFamily="18" charset="0"/>
                <a:cs typeface="Times New Roman" pitchFamily="18" charset="0"/>
              </a:rPr>
              <a:t> Manual purchase and delivery of medicine are time-consuming and prone to                                                             human error.</a:t>
            </a:r>
          </a:p>
          <a:p>
            <a:pPr lvl="1">
              <a:buFont typeface="Arial" pitchFamily="34" charset="0"/>
              <a:buChar char="•"/>
            </a:pPr>
            <a:endParaRPr lang="en-GB" dirty="0">
              <a:solidFill>
                <a:schemeClr val="tx1"/>
              </a:solidFill>
              <a:latin typeface="Times New Roman" pitchFamily="18" charset="0"/>
              <a:cs typeface="Times New Roman" pitchFamily="18" charset="0"/>
            </a:endParaRPr>
          </a:p>
          <a:p>
            <a:pPr lvl="1"/>
            <a:r>
              <a:rPr lang="en-GB" dirty="0">
                <a:solidFill>
                  <a:schemeClr val="tx1"/>
                </a:solidFill>
                <a:latin typeface="Times New Roman" pitchFamily="18" charset="0"/>
                <a:cs typeface="Times New Roman" pitchFamily="18" charset="0"/>
              </a:rPr>
              <a:t> Lack of proper tracking and coordination between pharmacies and users.</a:t>
            </a:r>
          </a:p>
          <a:p>
            <a:pPr lvl="1">
              <a:buFont typeface="Arial" pitchFamily="34" charset="0"/>
              <a:buChar char="•"/>
            </a:pPr>
            <a:endParaRPr lang="en-GB" dirty="0">
              <a:solidFill>
                <a:schemeClr val="tx1"/>
              </a:solidFill>
              <a:latin typeface="Times New Roman" pitchFamily="18" charset="0"/>
              <a:cs typeface="Times New Roman" pitchFamily="18" charset="0"/>
            </a:endParaRPr>
          </a:p>
          <a:p>
            <a:pPr lvl="1"/>
            <a:r>
              <a:rPr lang="en-GB" dirty="0">
                <a:solidFill>
                  <a:schemeClr val="tx1"/>
                </a:solidFill>
                <a:latin typeface="Times New Roman" pitchFamily="18" charset="0"/>
                <a:cs typeface="Times New Roman" pitchFamily="18" charset="0"/>
              </a:rPr>
              <a:t> Inconvenient for elderly or disabled users to visit pharmacies.</a:t>
            </a:r>
          </a:p>
          <a:p>
            <a:pPr lvl="1">
              <a:buFont typeface="Arial" pitchFamily="34" charset="0"/>
              <a:buChar char="•"/>
            </a:pPr>
            <a:endParaRPr lang="en-GB" dirty="0">
              <a:solidFill>
                <a:schemeClr val="tx1"/>
              </a:solidFill>
              <a:latin typeface="Times New Roman" pitchFamily="18" charset="0"/>
              <a:cs typeface="Times New Roman" pitchFamily="18" charset="0"/>
            </a:endParaRPr>
          </a:p>
          <a:p>
            <a:pPr lvl="1"/>
            <a:r>
              <a:rPr lang="en-GB" dirty="0">
                <a:solidFill>
                  <a:schemeClr val="tx1"/>
                </a:solidFill>
                <a:latin typeface="Times New Roman" pitchFamily="18" charset="0"/>
                <a:cs typeface="Times New Roman" pitchFamily="18" charset="0"/>
              </a:rPr>
              <a:t> Risk of counterfeit medicines in unregulated markets.</a:t>
            </a:r>
          </a:p>
          <a:p>
            <a:pPr marL="0" indent="0" algn="just">
              <a:buNone/>
            </a:pPr>
            <a:endParaRPr lang="en-US" dirty="0">
              <a:solidFill>
                <a:schemeClr val="tx1"/>
              </a:solidFill>
            </a:endParaRPr>
          </a:p>
        </p:txBody>
      </p:sp>
    </p:spTree>
    <p:extLst>
      <p:ext uri="{BB962C8B-B14F-4D97-AF65-F5344CB8AC3E}">
        <p14:creationId xmlns:p14="http://schemas.microsoft.com/office/powerpoint/2010/main" val="2147035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472506" cy="1320800"/>
          </a:xfrm>
          <a:ln>
            <a:solidFill>
              <a:schemeClr val="accent2"/>
            </a:solidFill>
          </a:ln>
        </p:spPr>
        <p:txBody>
          <a:bodyPr/>
          <a:lstStyle/>
          <a:p>
            <a:pPr>
              <a:lnSpc>
                <a:spcPct val="200000"/>
              </a:lnSpc>
            </a:pPr>
            <a:r>
              <a:rPr lang="en-US" dirty="0"/>
              <a:t> </a:t>
            </a:r>
            <a:r>
              <a:rPr lang="en-US" dirty="0">
                <a:latin typeface="Times New Roman" pitchFamily="18" charset="0"/>
                <a:cs typeface="Times New Roman" pitchFamily="18" charset="0"/>
              </a:rPr>
              <a:t>EXISTING SYSTEM</a:t>
            </a:r>
          </a:p>
        </p:txBody>
      </p:sp>
      <p:sp>
        <p:nvSpPr>
          <p:cNvPr id="3" name="Content Placeholder 2"/>
          <p:cNvSpPr>
            <a:spLocks noGrp="1"/>
          </p:cNvSpPr>
          <p:nvPr>
            <p:ph idx="1"/>
          </p:nvPr>
        </p:nvSpPr>
        <p:spPr>
          <a:xfrm>
            <a:off x="768774" y="2292669"/>
            <a:ext cx="8832426" cy="3854131"/>
          </a:xfrm>
        </p:spPr>
        <p:txBody>
          <a:bodyPr>
            <a:normAutofit fontScale="92500" lnSpcReduction="20000"/>
          </a:bodyPr>
          <a:lstStyle/>
          <a:p>
            <a:pPr algn="just">
              <a:buNone/>
            </a:pPr>
            <a:r>
              <a:rPr lang="en-GB" dirty="0">
                <a:solidFill>
                  <a:schemeClr val="tx1"/>
                </a:solidFill>
              </a:rPr>
              <a:t>     </a:t>
            </a:r>
            <a:r>
              <a:rPr lang="en-GB" dirty="0">
                <a:solidFill>
                  <a:schemeClr val="tx1"/>
                </a:solidFill>
                <a:latin typeface="Times New Roman" pitchFamily="18" charset="0"/>
                <a:cs typeface="Times New Roman" pitchFamily="18" charset="0"/>
              </a:rPr>
              <a:t>Currently, many basic online medicine delivery prototypes or simple websites are developed using only front-end technologies like HTML, CSS, and sometimes JavaScript, without integrating backend databases. These systems typically consist of static web pages where users can view a fixed list of medicines, along with their details such as name, price, and quantity </a:t>
            </a:r>
            <a:r>
              <a:rPr lang="en-GB" dirty="0" err="1">
                <a:solidFill>
                  <a:schemeClr val="tx1"/>
                </a:solidFill>
                <a:latin typeface="Times New Roman" pitchFamily="18" charset="0"/>
                <a:cs typeface="Times New Roman" pitchFamily="18" charset="0"/>
              </a:rPr>
              <a:t>available.In</a:t>
            </a:r>
            <a:r>
              <a:rPr lang="en-GB" dirty="0">
                <a:solidFill>
                  <a:schemeClr val="tx1"/>
                </a:solidFill>
                <a:latin typeface="Times New Roman" pitchFamily="18" charset="0"/>
                <a:cs typeface="Times New Roman" pitchFamily="18" charset="0"/>
              </a:rPr>
              <a:t> such systems, users can select medicines and add them to a cart during their browsing session. Client-side storage options like local Storage or session Storage are often used to temporarily save the user's selections while navigating through the site. Since there is no database connection, the system cannot permanently store orders or user information, nor does it provide dynamic updates or user </a:t>
            </a:r>
            <a:r>
              <a:rPr lang="en-GB" dirty="0" err="1">
                <a:solidFill>
                  <a:schemeClr val="tx1"/>
                </a:solidFill>
                <a:latin typeface="Times New Roman" pitchFamily="18" charset="0"/>
                <a:cs typeface="Times New Roman" pitchFamily="18" charset="0"/>
              </a:rPr>
              <a:t>authentication.These</a:t>
            </a:r>
            <a:r>
              <a:rPr lang="en-GB" dirty="0">
                <a:solidFill>
                  <a:schemeClr val="tx1"/>
                </a:solidFill>
                <a:latin typeface="Times New Roman" pitchFamily="18" charset="0"/>
                <a:cs typeface="Times New Roman" pitchFamily="18" charset="0"/>
              </a:rPr>
              <a:t> existing systems are mostly used for educational purposes, small-scale demonstrations, or environments where simplicity and ease of deployment are prioritized over scalability and real-time functionality. They serve as a basic framework to understand how online ordering interfaces work without the complexity of backend </a:t>
            </a:r>
            <a:r>
              <a:rPr lang="en-GB" dirty="0" err="1">
                <a:solidFill>
                  <a:schemeClr val="tx1"/>
                </a:solidFill>
                <a:latin typeface="Times New Roman" pitchFamily="18" charset="0"/>
                <a:cs typeface="Times New Roman" pitchFamily="18" charset="0"/>
              </a:rPr>
              <a:t>integration.Want</a:t>
            </a:r>
            <a:r>
              <a:rPr lang="en-GB" dirty="0">
                <a:solidFill>
                  <a:schemeClr val="tx1"/>
                </a:solidFill>
                <a:latin typeface="Times New Roman" pitchFamily="18" charset="0"/>
                <a:cs typeface="Times New Roman" pitchFamily="18" charset="0"/>
              </a:rPr>
              <a:t> me to cover how these systems could be improved or what limitations they have?</a:t>
            </a:r>
          </a:p>
          <a:p>
            <a:pPr>
              <a:buNone/>
            </a:pPr>
            <a:br>
              <a:rPr lang="en-GB" dirty="0">
                <a:solidFill>
                  <a:schemeClr val="tx1"/>
                </a:solidFill>
              </a:rPr>
            </a:br>
            <a:endParaRPr lang="en-GB" dirty="0">
              <a:solidFill>
                <a:schemeClr val="tx1"/>
              </a:solidFill>
            </a:endParaRPr>
          </a:p>
          <a:p>
            <a:pPr marL="0" indent="0" algn="just">
              <a:buNone/>
            </a:pPr>
            <a:endParaRPr lang="en-US" dirty="0">
              <a:solidFill>
                <a:schemeClr val="tx1"/>
              </a:solidFill>
            </a:endParaRPr>
          </a:p>
        </p:txBody>
      </p:sp>
    </p:spTree>
    <p:extLst>
      <p:ext uri="{BB962C8B-B14F-4D97-AF65-F5344CB8AC3E}">
        <p14:creationId xmlns:p14="http://schemas.microsoft.com/office/powerpoint/2010/main" val="2208740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635066" cy="1320800"/>
          </a:xfrm>
          <a:ln>
            <a:solidFill>
              <a:schemeClr val="accent2"/>
            </a:solidFill>
          </a:ln>
        </p:spPr>
        <p:txBody>
          <a:bodyPr/>
          <a:lstStyle/>
          <a:p>
            <a:pPr>
              <a:lnSpc>
                <a:spcPct val="200000"/>
              </a:lnSpc>
            </a:pPr>
            <a:r>
              <a:rPr lang="en-US" dirty="0"/>
              <a:t> </a:t>
            </a:r>
            <a:r>
              <a:rPr lang="en-US" dirty="0">
                <a:latin typeface="Times New Roman" pitchFamily="18" charset="0"/>
                <a:cs typeface="Times New Roman" pitchFamily="18" charset="0"/>
              </a:rPr>
              <a:t>DISADVANTAGES</a:t>
            </a:r>
          </a:p>
        </p:txBody>
      </p:sp>
      <p:sp>
        <p:nvSpPr>
          <p:cNvPr id="3" name="Content Placeholder 2"/>
          <p:cNvSpPr>
            <a:spLocks noGrp="1"/>
          </p:cNvSpPr>
          <p:nvPr>
            <p:ph idx="1"/>
          </p:nvPr>
        </p:nvSpPr>
        <p:spPr>
          <a:xfrm>
            <a:off x="850054" y="2221549"/>
            <a:ext cx="8690186" cy="3772851"/>
          </a:xfrm>
        </p:spPr>
        <p:txBody>
          <a:bodyPr>
            <a:normAutofit/>
          </a:bodyPr>
          <a:lstStyle/>
          <a:p>
            <a:pPr marL="0" indent="0">
              <a:buNone/>
            </a:pPr>
            <a:endParaRPr lang="en-GB" dirty="0">
              <a:solidFill>
                <a:schemeClr val="tx1"/>
              </a:solidFill>
              <a:latin typeface="Times New Roman" pitchFamily="18" charset="0"/>
              <a:cs typeface="Times New Roman" pitchFamily="18" charset="0"/>
            </a:endParaRPr>
          </a:p>
          <a:p>
            <a:r>
              <a:rPr lang="en-GB" dirty="0">
                <a:solidFill>
                  <a:schemeClr val="tx1"/>
                </a:solidFill>
                <a:latin typeface="Times New Roman" pitchFamily="18" charset="0"/>
                <a:cs typeface="Times New Roman" pitchFamily="18" charset="0"/>
              </a:rPr>
              <a:t>Limited dynamic functionality and real-time updates.</a:t>
            </a:r>
          </a:p>
          <a:p>
            <a:r>
              <a:rPr lang="en-GB" dirty="0">
                <a:solidFill>
                  <a:schemeClr val="tx1"/>
                </a:solidFill>
                <a:latin typeface="Times New Roman" pitchFamily="18" charset="0"/>
                <a:cs typeface="Times New Roman" pitchFamily="18" charset="0"/>
              </a:rPr>
              <a:t>Absence of user authentication and account management.</a:t>
            </a:r>
          </a:p>
          <a:p>
            <a:r>
              <a:rPr lang="en-GB" dirty="0">
                <a:solidFill>
                  <a:schemeClr val="tx1"/>
                </a:solidFill>
                <a:latin typeface="Times New Roman" pitchFamily="18" charset="0"/>
                <a:cs typeface="Times New Roman" pitchFamily="18" charset="0"/>
              </a:rPr>
              <a:t>Manual updating of medicine lists in the HTML code.</a:t>
            </a:r>
          </a:p>
          <a:p>
            <a:r>
              <a:rPr lang="en-GB" dirty="0">
                <a:solidFill>
                  <a:schemeClr val="tx1"/>
                </a:solidFill>
                <a:latin typeface="Times New Roman" pitchFamily="18" charset="0"/>
                <a:cs typeface="Times New Roman" pitchFamily="18" charset="0"/>
              </a:rPr>
              <a:t>No payment gateway integration.</a:t>
            </a:r>
          </a:p>
          <a:p>
            <a:r>
              <a:rPr lang="en-GB" dirty="0">
                <a:solidFill>
                  <a:schemeClr val="tx1"/>
                </a:solidFill>
                <a:latin typeface="Times New Roman" pitchFamily="18" charset="0"/>
                <a:cs typeface="Times New Roman" pitchFamily="18" charset="0"/>
              </a:rPr>
              <a:t>Poor scalability for handling many users or orders.</a:t>
            </a:r>
          </a:p>
          <a:p>
            <a:pPr algn="just"/>
            <a:endParaRPr lang="en-US" dirty="0">
              <a:solidFill>
                <a:schemeClr val="tx1"/>
              </a:solidFill>
            </a:endParaRPr>
          </a:p>
        </p:txBody>
      </p:sp>
    </p:spTree>
    <p:extLst>
      <p:ext uri="{BB962C8B-B14F-4D97-AF65-F5344CB8AC3E}">
        <p14:creationId xmlns:p14="http://schemas.microsoft.com/office/powerpoint/2010/main" val="3642968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960186" cy="1320800"/>
          </a:xfrm>
          <a:ln>
            <a:solidFill>
              <a:schemeClr val="accent2"/>
            </a:solidFill>
          </a:ln>
        </p:spPr>
        <p:txBody>
          <a:bodyPr/>
          <a:lstStyle/>
          <a:p>
            <a:pPr>
              <a:lnSpc>
                <a:spcPct val="200000"/>
              </a:lnSpc>
            </a:pPr>
            <a:r>
              <a:rPr lang="en-US" dirty="0"/>
              <a:t> </a:t>
            </a:r>
            <a:r>
              <a:rPr lang="en-US" dirty="0">
                <a:latin typeface="Times New Roman" pitchFamily="18" charset="0"/>
                <a:cs typeface="Times New Roman" pitchFamily="18" charset="0"/>
              </a:rPr>
              <a:t>PROPOSED SYSTEM</a:t>
            </a:r>
          </a:p>
        </p:txBody>
      </p:sp>
      <p:sp>
        <p:nvSpPr>
          <p:cNvPr id="3" name="Content Placeholder 2"/>
          <p:cNvSpPr>
            <a:spLocks noGrp="1"/>
          </p:cNvSpPr>
          <p:nvPr>
            <p:ph idx="1"/>
          </p:nvPr>
        </p:nvSpPr>
        <p:spPr>
          <a:xfrm>
            <a:off x="853041" y="2367353"/>
            <a:ext cx="8859919" cy="3599316"/>
          </a:xfrm>
        </p:spPr>
        <p:txBody>
          <a:bodyPr>
            <a:normAutofit/>
          </a:bodyPr>
          <a:lstStyle/>
          <a:p>
            <a:r>
              <a:rPr lang="en-GB" dirty="0">
                <a:solidFill>
                  <a:schemeClr val="tx1"/>
                </a:solidFill>
                <a:latin typeface="Times New Roman" pitchFamily="18" charset="0"/>
                <a:cs typeface="Times New Roman" pitchFamily="18" charset="0"/>
              </a:rPr>
              <a:t>A user-friendly web interface built with HTML to display medicine details.</a:t>
            </a:r>
          </a:p>
          <a:p>
            <a:r>
              <a:rPr lang="en-GB" dirty="0">
                <a:solidFill>
                  <a:schemeClr val="tx1"/>
                </a:solidFill>
                <a:latin typeface="Times New Roman" pitchFamily="18" charset="0"/>
                <a:cs typeface="Times New Roman" pitchFamily="18" charset="0"/>
              </a:rPr>
              <a:t>Use of client-side storage (like </a:t>
            </a:r>
            <a:r>
              <a:rPr lang="en-GB" dirty="0" err="1">
                <a:solidFill>
                  <a:schemeClr val="tx1"/>
                </a:solidFill>
                <a:latin typeface="Times New Roman" pitchFamily="18" charset="0"/>
                <a:cs typeface="Times New Roman" pitchFamily="18" charset="0"/>
              </a:rPr>
              <a:t>localStorage</a:t>
            </a:r>
            <a:r>
              <a:rPr lang="en-GB" dirty="0">
                <a:solidFill>
                  <a:schemeClr val="tx1"/>
                </a:solidFill>
                <a:latin typeface="Times New Roman" pitchFamily="18" charset="0"/>
                <a:cs typeface="Times New Roman" pitchFamily="18" charset="0"/>
              </a:rPr>
              <a:t> or </a:t>
            </a:r>
            <a:r>
              <a:rPr lang="en-GB" dirty="0" err="1">
                <a:solidFill>
                  <a:schemeClr val="tx1"/>
                </a:solidFill>
                <a:latin typeface="Times New Roman" pitchFamily="18" charset="0"/>
                <a:cs typeface="Times New Roman" pitchFamily="18" charset="0"/>
              </a:rPr>
              <a:t>sessionStorage</a:t>
            </a:r>
            <a:r>
              <a:rPr lang="en-GB" dirty="0">
                <a:solidFill>
                  <a:schemeClr val="tx1"/>
                </a:solidFill>
                <a:latin typeface="Times New Roman" pitchFamily="18" charset="0"/>
                <a:cs typeface="Times New Roman" pitchFamily="18" charset="0"/>
              </a:rPr>
              <a:t>) to temporarily save user selections during the session.</a:t>
            </a:r>
          </a:p>
          <a:p>
            <a:r>
              <a:rPr lang="en-GB" dirty="0">
                <a:solidFill>
                  <a:schemeClr val="tx1"/>
                </a:solidFill>
                <a:latin typeface="Times New Roman" pitchFamily="18" charset="0"/>
                <a:cs typeface="Times New Roman" pitchFamily="18" charset="0"/>
              </a:rPr>
              <a:t>Simple order placement without requiring backend database or server-side processing.</a:t>
            </a:r>
          </a:p>
          <a:p>
            <a:r>
              <a:rPr lang="en-GB" dirty="0">
                <a:solidFill>
                  <a:schemeClr val="tx1"/>
                </a:solidFill>
                <a:latin typeface="Times New Roman" pitchFamily="18" charset="0"/>
                <a:cs typeface="Times New Roman" pitchFamily="18" charset="0"/>
              </a:rPr>
              <a:t>Static pages that allow browsing medicines, adding items to a cart, and viewing the cart before “placing” an order.</a:t>
            </a:r>
          </a:p>
          <a:p>
            <a:r>
              <a:rPr lang="en-GB" dirty="0">
                <a:solidFill>
                  <a:schemeClr val="tx1"/>
                </a:solidFill>
                <a:latin typeface="Times New Roman" pitchFamily="18" charset="0"/>
                <a:cs typeface="Times New Roman" pitchFamily="18" charset="0"/>
              </a:rPr>
              <a:t>Basic validation using JavaScript to ensure correct input formats.</a:t>
            </a:r>
          </a:p>
          <a:p>
            <a:r>
              <a:rPr lang="en-GB" dirty="0">
                <a:solidFill>
                  <a:schemeClr val="tx1"/>
                </a:solidFill>
                <a:latin typeface="Times New Roman" pitchFamily="18" charset="0"/>
                <a:cs typeface="Times New Roman" pitchFamily="18" charset="0"/>
              </a:rPr>
              <a:t>Suitable for small-scale or prototype applications where persistent data and advanced features are not required.</a:t>
            </a:r>
          </a:p>
          <a:p>
            <a:pPr marL="0" indent="0" algn="just">
              <a:buNone/>
            </a:pPr>
            <a:endParaRPr lang="en-US" dirty="0">
              <a:solidFill>
                <a:schemeClr val="tx1"/>
              </a:solidFill>
            </a:endParaRPr>
          </a:p>
        </p:txBody>
      </p:sp>
    </p:spTree>
    <p:extLst>
      <p:ext uri="{BB962C8B-B14F-4D97-AF65-F5344CB8AC3E}">
        <p14:creationId xmlns:p14="http://schemas.microsoft.com/office/powerpoint/2010/main" val="20092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726506" cy="1320800"/>
          </a:xfrm>
          <a:ln>
            <a:solidFill>
              <a:schemeClr val="accent2"/>
            </a:solidFill>
          </a:ln>
        </p:spPr>
        <p:txBody>
          <a:bodyPr/>
          <a:lstStyle/>
          <a:p>
            <a:pPr>
              <a:lnSpc>
                <a:spcPct val="200000"/>
              </a:lnSpc>
            </a:pPr>
            <a:r>
              <a:rPr lang="en-US" dirty="0"/>
              <a:t> </a:t>
            </a:r>
            <a:r>
              <a:rPr lang="en-US" dirty="0">
                <a:latin typeface="Times New Roman" pitchFamily="18" charset="0"/>
                <a:cs typeface="Times New Roman" pitchFamily="18" charset="0"/>
              </a:rPr>
              <a:t>ADVANTAGES</a:t>
            </a:r>
          </a:p>
        </p:txBody>
      </p:sp>
      <p:sp>
        <p:nvSpPr>
          <p:cNvPr id="3" name="Content Placeholder 2"/>
          <p:cNvSpPr>
            <a:spLocks noGrp="1"/>
          </p:cNvSpPr>
          <p:nvPr>
            <p:ph idx="1"/>
          </p:nvPr>
        </p:nvSpPr>
        <p:spPr>
          <a:xfrm>
            <a:off x="1114214" y="2363789"/>
            <a:ext cx="8596668" cy="3880773"/>
          </a:xfrm>
        </p:spPr>
        <p:txBody>
          <a:bodyPr>
            <a:normAutofit/>
          </a:bodyPr>
          <a:lstStyle/>
          <a:p>
            <a:r>
              <a:rPr lang="en-GB" dirty="0">
                <a:solidFill>
                  <a:schemeClr val="tx1"/>
                </a:solidFill>
                <a:latin typeface="Times New Roman" pitchFamily="18" charset="0"/>
                <a:cs typeface="Times New Roman" pitchFamily="18" charset="0"/>
              </a:rPr>
              <a:t>Online medicine delivery is highly convenient because it allows customers to order medicines anytime without leaving their homes.</a:t>
            </a:r>
          </a:p>
          <a:p>
            <a:r>
              <a:rPr lang="en-GB" dirty="0">
                <a:solidFill>
                  <a:schemeClr val="tx1"/>
                </a:solidFill>
                <a:latin typeface="Times New Roman" pitchFamily="18" charset="0"/>
                <a:cs typeface="Times New Roman" pitchFamily="18" charset="0"/>
              </a:rPr>
              <a:t>It saves significant time by removing the need to travel to a pharmacy and wait in lines.</a:t>
            </a:r>
          </a:p>
          <a:p>
            <a:r>
              <a:rPr lang="en-GB" dirty="0">
                <a:solidFill>
                  <a:schemeClr val="tx1"/>
                </a:solidFill>
                <a:latin typeface="Times New Roman" pitchFamily="18" charset="0"/>
                <a:cs typeface="Times New Roman" pitchFamily="18" charset="0"/>
              </a:rPr>
              <a:t>This system increases accessibility by making medicines available to people in remote or underserved areas.</a:t>
            </a:r>
          </a:p>
          <a:p>
            <a:r>
              <a:rPr lang="en-GB" dirty="0">
                <a:solidFill>
                  <a:schemeClr val="tx1"/>
                </a:solidFill>
                <a:latin typeface="Times New Roman" pitchFamily="18" charset="0"/>
                <a:cs typeface="Times New Roman" pitchFamily="18" charset="0"/>
              </a:rPr>
              <a:t>Online delivery ensures privacy for users, enabling discreet purchases especially for sensitive health conditions.</a:t>
            </a:r>
          </a:p>
          <a:p>
            <a:r>
              <a:rPr lang="en-GB" dirty="0">
                <a:solidFill>
                  <a:schemeClr val="tx1"/>
                </a:solidFill>
                <a:latin typeface="Times New Roman" pitchFamily="18" charset="0"/>
                <a:cs typeface="Times New Roman" pitchFamily="18" charset="0"/>
              </a:rPr>
              <a:t>It is cost-effective, as customers can compare prices and take advantage of discounts offered by different vendors.</a:t>
            </a:r>
          </a:p>
          <a:p>
            <a:endParaRPr lang="en-US" dirty="0"/>
          </a:p>
        </p:txBody>
      </p:sp>
    </p:spTree>
    <p:extLst>
      <p:ext uri="{BB962C8B-B14F-4D97-AF65-F5344CB8AC3E}">
        <p14:creationId xmlns:p14="http://schemas.microsoft.com/office/powerpoint/2010/main" val="3269774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807786" cy="1320800"/>
          </a:xfrm>
          <a:ln>
            <a:solidFill>
              <a:schemeClr val="accent2"/>
            </a:solidFill>
          </a:ln>
        </p:spPr>
        <p:txBody>
          <a:bodyPr/>
          <a:lstStyle/>
          <a:p>
            <a:pPr>
              <a:lnSpc>
                <a:spcPct val="200000"/>
              </a:lnSpc>
            </a:pPr>
            <a:r>
              <a:rPr lang="en-US" dirty="0">
                <a:latin typeface="Times New Roman" pitchFamily="18" charset="0"/>
                <a:cs typeface="Times New Roman" pitchFamily="18" charset="0"/>
              </a:rPr>
              <a:t>SYSTEM REQUIREMENTS</a:t>
            </a:r>
          </a:p>
        </p:txBody>
      </p:sp>
      <p:sp>
        <p:nvSpPr>
          <p:cNvPr id="3" name="Content Placeholder 2"/>
          <p:cNvSpPr>
            <a:spLocks noGrp="1"/>
          </p:cNvSpPr>
          <p:nvPr>
            <p:ph idx="1"/>
          </p:nvPr>
        </p:nvSpPr>
        <p:spPr>
          <a:xfrm>
            <a:off x="1035921" y="2235273"/>
            <a:ext cx="9613861" cy="3599316"/>
          </a:xfrm>
        </p:spPr>
        <p:txBody>
          <a:bodyPr>
            <a:normAutofit/>
          </a:bodyPr>
          <a:lstStyle/>
          <a:p>
            <a:pPr algn="just">
              <a:buNone/>
            </a:pPr>
            <a:r>
              <a:rPr lang="en-GB" b="1" dirty="0">
                <a:solidFill>
                  <a:schemeClr val="tx1"/>
                </a:solidFill>
                <a:latin typeface="Times New Roman" pitchFamily="18" charset="0"/>
                <a:cs typeface="Times New Roman" pitchFamily="18" charset="0"/>
              </a:rPr>
              <a:t>Hardware Requirements</a:t>
            </a:r>
          </a:p>
          <a:p>
            <a:pPr algn="just"/>
            <a:endParaRPr lang="en-GB" dirty="0">
              <a:solidFill>
                <a:schemeClr val="tx1"/>
              </a:solidFill>
              <a:latin typeface="Times New Roman" pitchFamily="18" charset="0"/>
              <a:cs typeface="Times New Roman" pitchFamily="18" charset="0"/>
            </a:endParaRPr>
          </a:p>
          <a:p>
            <a:pPr lvl="1" algn="just"/>
            <a:r>
              <a:rPr lang="en-GB" dirty="0">
                <a:solidFill>
                  <a:schemeClr val="tx1"/>
                </a:solidFill>
                <a:latin typeface="Times New Roman" pitchFamily="18" charset="0"/>
                <a:cs typeface="Times New Roman" pitchFamily="18" charset="0"/>
              </a:rPr>
              <a:t> Processor: Intel i3 or higher</a:t>
            </a:r>
          </a:p>
          <a:p>
            <a:pPr algn="just">
              <a:buFont typeface="Arial" pitchFamily="34" charset="0"/>
              <a:buChar char="•"/>
            </a:pPr>
            <a:endParaRPr lang="en-GB" dirty="0">
              <a:solidFill>
                <a:schemeClr val="tx1"/>
              </a:solidFill>
              <a:latin typeface="Times New Roman" pitchFamily="18" charset="0"/>
              <a:cs typeface="Times New Roman" pitchFamily="18" charset="0"/>
            </a:endParaRPr>
          </a:p>
          <a:p>
            <a:pPr lvl="1" algn="just"/>
            <a:r>
              <a:rPr lang="en-GB" dirty="0">
                <a:solidFill>
                  <a:schemeClr val="tx1"/>
                </a:solidFill>
                <a:latin typeface="Times New Roman" pitchFamily="18" charset="0"/>
                <a:cs typeface="Times New Roman" pitchFamily="18" charset="0"/>
              </a:rPr>
              <a:t> RAM: 4 GB minimum</a:t>
            </a:r>
          </a:p>
          <a:p>
            <a:pPr algn="just">
              <a:buFont typeface="Arial" pitchFamily="34" charset="0"/>
              <a:buChar char="•"/>
            </a:pPr>
            <a:endParaRPr lang="en-GB" dirty="0">
              <a:solidFill>
                <a:schemeClr val="tx1"/>
              </a:solidFill>
              <a:latin typeface="Times New Roman" pitchFamily="18" charset="0"/>
              <a:cs typeface="Times New Roman" pitchFamily="18" charset="0"/>
            </a:endParaRPr>
          </a:p>
          <a:p>
            <a:pPr lvl="1" algn="just"/>
            <a:r>
              <a:rPr lang="en-GB" dirty="0">
                <a:solidFill>
                  <a:schemeClr val="tx1"/>
                </a:solidFill>
                <a:latin typeface="Times New Roman" pitchFamily="18" charset="0"/>
                <a:cs typeface="Times New Roman" pitchFamily="18" charset="0"/>
              </a:rPr>
              <a:t> Storage: 500 MB for development files</a:t>
            </a:r>
          </a:p>
          <a:p>
            <a:pPr marL="0" indent="0" algn="just">
              <a:buNone/>
            </a:pPr>
            <a:endParaRPr lang="en-GB" dirty="0">
              <a:solidFill>
                <a:schemeClr val="tx1"/>
              </a:solidFill>
              <a:latin typeface="Times New Roman" pitchFamily="18" charset="0"/>
              <a:cs typeface="Times New Roman" pitchFamily="18" charset="0"/>
            </a:endParaRPr>
          </a:p>
          <a:p>
            <a:pPr lvl="1" algn="just"/>
            <a:r>
              <a:rPr lang="en-GB" dirty="0">
                <a:solidFill>
                  <a:schemeClr val="tx1"/>
                </a:solidFill>
                <a:latin typeface="Times New Roman" pitchFamily="18" charset="0"/>
                <a:cs typeface="Times New Roman" pitchFamily="18" charset="0"/>
              </a:rPr>
              <a:t> Display: 1024x768 resolution or higher</a:t>
            </a:r>
          </a:p>
          <a:p>
            <a:pPr lvl="1" algn="just"/>
            <a:endParaRPr lang="en-GB" dirty="0">
              <a:solidFill>
                <a:schemeClr val="tx1"/>
              </a:solidFill>
              <a:latin typeface="Times New Roman" pitchFamily="18" charset="0"/>
              <a:cs typeface="Times New Roman" pitchFamily="18" charset="0"/>
            </a:endParaRPr>
          </a:p>
          <a:p>
            <a:pPr lvl="1" algn="just"/>
            <a:endParaRPr lang="en-GB" dirty="0">
              <a:solidFill>
                <a:schemeClr val="tx1"/>
              </a:solidFill>
              <a:latin typeface="Times New Roman" pitchFamily="18" charset="0"/>
              <a:cs typeface="Times New Roman" pitchFamily="18" charset="0"/>
            </a:endParaRPr>
          </a:p>
          <a:p>
            <a:pPr lvl="1" algn="just"/>
            <a:endParaRPr lang="en-GB" dirty="0">
              <a:solidFill>
                <a:schemeClr val="tx1"/>
              </a:solidFill>
              <a:latin typeface="Times New Roman" pitchFamily="18" charset="0"/>
              <a:cs typeface="Times New Roman" pitchFamily="18" charset="0"/>
            </a:endParaRPr>
          </a:p>
          <a:p>
            <a:pPr lvl="1" algn="just"/>
            <a:endParaRPr lang="en-GB" dirty="0">
              <a:solidFill>
                <a:schemeClr val="tx1"/>
              </a:solidFill>
              <a:latin typeface="Times New Roman" pitchFamily="18" charset="0"/>
              <a:cs typeface="Times New Roman" pitchFamily="18" charset="0"/>
            </a:endParaRPr>
          </a:p>
          <a:p>
            <a:pPr lvl="1" algn="just"/>
            <a:endParaRPr lang="en-GB" dirty="0">
              <a:solidFill>
                <a:schemeClr val="tx1"/>
              </a:solidFill>
              <a:latin typeface="Times New Roman" pitchFamily="18" charset="0"/>
              <a:cs typeface="Times New Roman" pitchFamily="18" charset="0"/>
            </a:endParaRPr>
          </a:p>
          <a:p>
            <a:pPr marL="457200" lvl="1" indent="0" algn="just">
              <a:buNone/>
            </a:pPr>
            <a:endParaRPr lang="en-GB" dirty="0">
              <a:solidFill>
                <a:schemeClr val="tx1"/>
              </a:solidFill>
              <a:latin typeface="Times New Roman" pitchFamily="18" charset="0"/>
              <a:cs typeface="Times New Roman" pitchFamily="18" charset="0"/>
            </a:endParaRPr>
          </a:p>
          <a:p>
            <a:pPr marL="0" indent="0" algn="just">
              <a:buNone/>
            </a:pPr>
            <a:endParaRPr lang="en-GB" dirty="0">
              <a:solidFill>
                <a:schemeClr val="tx1"/>
              </a:solidFill>
              <a:latin typeface="Times New Roman" pitchFamily="18" charset="0"/>
              <a:cs typeface="Times New Roman" pitchFamily="18" charset="0"/>
            </a:endParaRPr>
          </a:p>
          <a:p>
            <a:endParaRPr lang="en-GB" dirty="0"/>
          </a:p>
          <a:p>
            <a:pPr marL="0" indent="0">
              <a:buNone/>
            </a:pPr>
            <a:endParaRPr lang="en-US" dirty="0"/>
          </a:p>
        </p:txBody>
      </p:sp>
    </p:spTree>
    <p:extLst>
      <p:ext uri="{BB962C8B-B14F-4D97-AF65-F5344CB8AC3E}">
        <p14:creationId xmlns:p14="http://schemas.microsoft.com/office/powerpoint/2010/main" val="2658161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3E1C3A-CAE7-AFD9-F5E6-DE99B5955994}"/>
              </a:ext>
            </a:extLst>
          </p:cNvPr>
          <p:cNvSpPr txBox="1"/>
          <p:nvPr/>
        </p:nvSpPr>
        <p:spPr>
          <a:xfrm>
            <a:off x="902899" y="1777043"/>
            <a:ext cx="8218098" cy="4247317"/>
          </a:xfrm>
          <a:prstGeom prst="rect">
            <a:avLst/>
          </a:prstGeom>
          <a:noFill/>
        </p:spPr>
        <p:txBody>
          <a:bodyPr wrap="square">
            <a:spAutoFit/>
          </a:bodyPr>
          <a:lstStyle/>
          <a:p>
            <a:pPr lvl="1"/>
            <a:endParaRPr lang="en-US" b="1" dirty="0">
              <a:latin typeface="Times New Roman" pitchFamily="18" charset="0"/>
              <a:cs typeface="Times New Roman" pitchFamily="18" charset="0"/>
            </a:endParaRPr>
          </a:p>
          <a:p>
            <a:pPr lvl="1"/>
            <a:endParaRPr lang="en-US" dirty="0">
              <a:solidFill>
                <a:schemeClr val="tx1"/>
              </a:solidFill>
              <a:latin typeface="Times New Roman" pitchFamily="18" charset="0"/>
              <a:cs typeface="Times New Roman" pitchFamily="18" charset="0"/>
            </a:endParaRPr>
          </a:p>
          <a:p>
            <a:pPr marL="742950" lvl="1" indent="-285750">
              <a:buClr>
                <a:schemeClr val="accent1"/>
              </a:buClr>
              <a:buSzPct val="90000"/>
              <a:buFont typeface="Times New Roman" panose="02020603050405020304" pitchFamily="18" charset="0"/>
              <a:buChar char="►"/>
            </a:pPr>
            <a:r>
              <a:rPr lang="en-US" dirty="0">
                <a:solidFill>
                  <a:schemeClr val="tx1"/>
                </a:solidFill>
                <a:latin typeface="Times New Roman" pitchFamily="18" charset="0"/>
                <a:cs typeface="Times New Roman" pitchFamily="18" charset="0"/>
              </a:rPr>
              <a:t>  Operating System: Windows/Linux/macOS/Android</a:t>
            </a:r>
          </a:p>
          <a:p>
            <a:pPr lvl="1"/>
            <a:endParaRPr lang="en-US" dirty="0">
              <a:solidFill>
                <a:schemeClr val="tx1"/>
              </a:solidFill>
              <a:latin typeface="Times New Roman" pitchFamily="18" charset="0"/>
              <a:cs typeface="Times New Roman" pitchFamily="18" charset="0"/>
            </a:endParaRPr>
          </a:p>
          <a:p>
            <a:pPr marL="742950" lvl="1" indent="-285750">
              <a:buClr>
                <a:schemeClr val="accent1"/>
              </a:buClr>
              <a:buSzPct val="90000"/>
              <a:buFont typeface="Times New Roman" panose="02020603050405020304" pitchFamily="18" charset="0"/>
              <a:buChar char="►"/>
            </a:pPr>
            <a:endParaRPr lang="en-US" dirty="0">
              <a:latin typeface="Times New Roman" pitchFamily="18" charset="0"/>
              <a:cs typeface="Times New Roman" pitchFamily="18" charset="0"/>
            </a:endParaRPr>
          </a:p>
          <a:p>
            <a:pPr marL="742950" lvl="1" indent="-285750">
              <a:buClr>
                <a:schemeClr val="accent1"/>
              </a:buClr>
              <a:buSzPct val="90000"/>
              <a:buFont typeface="Times New Roman" panose="02020603050405020304" pitchFamily="18" charset="0"/>
              <a:buChar char="►"/>
            </a:pPr>
            <a:r>
              <a:rPr lang="en-US" dirty="0">
                <a:latin typeface="Times New Roman" pitchFamily="18" charset="0"/>
                <a:cs typeface="Times New Roman" pitchFamily="18" charset="0"/>
              </a:rPr>
              <a:t>  </a:t>
            </a:r>
            <a:r>
              <a:rPr lang="en-US" dirty="0">
                <a:solidFill>
                  <a:schemeClr val="tx1"/>
                </a:solidFill>
                <a:latin typeface="Times New Roman" pitchFamily="18" charset="0"/>
                <a:cs typeface="Times New Roman" pitchFamily="18" charset="0"/>
              </a:rPr>
              <a:t>Web browser or mobile app</a:t>
            </a:r>
          </a:p>
          <a:p>
            <a:pPr lvl="1">
              <a:buFont typeface="Arial" pitchFamily="34" charset="0"/>
              <a:buChar char="•"/>
            </a:pPr>
            <a:endParaRPr lang="en-US" dirty="0">
              <a:solidFill>
                <a:schemeClr val="tx1"/>
              </a:solidFill>
              <a:latin typeface="Times New Roman" pitchFamily="18" charset="0"/>
              <a:cs typeface="Times New Roman" pitchFamily="18" charset="0"/>
            </a:endParaRPr>
          </a:p>
          <a:p>
            <a:pPr lvl="1">
              <a:buClr>
                <a:schemeClr val="accent1"/>
              </a:buClr>
              <a:buSzPct val="90000"/>
            </a:pPr>
            <a:r>
              <a:rPr lang="en-US" dirty="0">
                <a:solidFill>
                  <a:schemeClr val="tx1"/>
                </a:solidFill>
                <a:latin typeface="Times New Roman" pitchFamily="18" charset="0"/>
                <a:cs typeface="Times New Roman" pitchFamily="18" charset="0"/>
              </a:rPr>
              <a:t>  </a:t>
            </a:r>
          </a:p>
          <a:p>
            <a:pPr marL="742950" lvl="1" indent="-285750">
              <a:buClr>
                <a:schemeClr val="accent1"/>
              </a:buClr>
              <a:buSzPct val="90000"/>
              <a:buFont typeface="Times New Roman" panose="02020603050405020304" pitchFamily="18" charset="0"/>
              <a:buChar char="►"/>
            </a:pPr>
            <a:r>
              <a:rPr lang="en-US" dirty="0">
                <a:solidFill>
                  <a:schemeClr val="tx1"/>
                </a:solidFill>
                <a:latin typeface="Times New Roman" pitchFamily="18" charset="0"/>
                <a:cs typeface="Times New Roman" pitchFamily="18" charset="0"/>
              </a:rPr>
              <a:t>  IDE for development: VS Code, PyCharm, or similar</a:t>
            </a:r>
          </a:p>
          <a:p>
            <a:pPr lvl="1">
              <a:buFont typeface="Arial" pitchFamily="34" charset="0"/>
              <a:buChar char="•"/>
            </a:pPr>
            <a:endParaRPr lang="en-US" dirty="0">
              <a:solidFill>
                <a:schemeClr val="tx1"/>
              </a:solidFill>
              <a:latin typeface="Times New Roman" pitchFamily="18" charset="0"/>
              <a:cs typeface="Times New Roman" pitchFamily="18" charset="0"/>
            </a:endParaRPr>
          </a:p>
          <a:p>
            <a:pPr lvl="1">
              <a:buClr>
                <a:schemeClr val="accent1"/>
              </a:buClr>
              <a:buSzPct val="90000"/>
            </a:pPr>
            <a:r>
              <a:rPr lang="en-US" dirty="0">
                <a:solidFill>
                  <a:schemeClr val="tx1"/>
                </a:solidFill>
                <a:latin typeface="Times New Roman" pitchFamily="18" charset="0"/>
                <a:cs typeface="Times New Roman" pitchFamily="18" charset="0"/>
              </a:rPr>
              <a:t>   </a:t>
            </a:r>
          </a:p>
          <a:p>
            <a:pPr marL="742950" lvl="1" indent="-285750">
              <a:buClr>
                <a:schemeClr val="accent1"/>
              </a:buClr>
              <a:buSzPct val="90000"/>
              <a:buFont typeface="Times New Roman" panose="02020603050405020304" pitchFamily="18" charset="0"/>
              <a:buChar char="►"/>
            </a:pPr>
            <a:r>
              <a:rPr lang="en-US" dirty="0">
                <a:solidFill>
                  <a:schemeClr val="tx1"/>
                </a:solidFill>
                <a:latin typeface="Times New Roman" pitchFamily="18" charset="0"/>
                <a:cs typeface="Times New Roman" pitchFamily="18" charset="0"/>
              </a:rPr>
              <a:t>  No database required – data is held in temporary storage (e.g., Pytho</a:t>
            </a:r>
            <a:r>
              <a:rPr lang="en-US" dirty="0">
                <a:latin typeface="Times New Roman" pitchFamily="18" charset="0"/>
                <a:cs typeface="Times New Roman" pitchFamily="18" charset="0"/>
              </a:rPr>
              <a:t>n </a:t>
            </a:r>
            <a:r>
              <a:rPr lang="en-US" dirty="0">
                <a:solidFill>
                  <a:schemeClr val="tx1"/>
                </a:solidFill>
                <a:latin typeface="Times New Roman" pitchFamily="18" charset="0"/>
                <a:cs typeface="Times New Roman" pitchFamily="18" charset="0"/>
              </a:rPr>
              <a:t>lists)</a:t>
            </a:r>
          </a:p>
          <a:p>
            <a:pPr lvl="1">
              <a:buFont typeface="Arial" pitchFamily="34" charset="0"/>
              <a:buChar char="•"/>
            </a:pPr>
            <a:endParaRPr lang="en-US" dirty="0">
              <a:solidFill>
                <a:schemeClr val="tx1"/>
              </a:solidFill>
              <a:latin typeface="Times New Roman" pitchFamily="18" charset="0"/>
              <a:cs typeface="Times New Roman" pitchFamily="18" charset="0"/>
            </a:endParaRPr>
          </a:p>
          <a:p>
            <a:pPr lvl="1">
              <a:buClr>
                <a:schemeClr val="accent1"/>
              </a:buClr>
              <a:buSzPct val="90000"/>
            </a:pPr>
            <a:r>
              <a:rPr lang="en-GB" dirty="0">
                <a:solidFill>
                  <a:schemeClr val="tx1"/>
                </a:solidFill>
                <a:latin typeface="Times New Roman" pitchFamily="18" charset="0"/>
                <a:cs typeface="Times New Roman" pitchFamily="18" charset="0"/>
              </a:rPr>
              <a:t> </a:t>
            </a:r>
          </a:p>
          <a:p>
            <a:pPr marL="742950" lvl="1" indent="-285750">
              <a:buClr>
                <a:schemeClr val="accent1"/>
              </a:buClr>
              <a:buSzPct val="90000"/>
              <a:buFont typeface="Times New Roman" panose="02020603050405020304" pitchFamily="18" charset="0"/>
              <a:buChar char="►"/>
            </a:pPr>
            <a:r>
              <a:rPr lang="en-GB" dirty="0">
                <a:solidFill>
                  <a:schemeClr val="tx1"/>
                </a:solidFill>
                <a:latin typeface="Times New Roman" pitchFamily="18" charset="0"/>
                <a:cs typeface="Times New Roman" pitchFamily="18" charset="0"/>
              </a:rPr>
              <a:t>  Storage</a:t>
            </a:r>
            <a:r>
              <a:rPr lang="en-GB" b="1" dirty="0">
                <a:solidFill>
                  <a:schemeClr val="tx1"/>
                </a:solidFill>
                <a:latin typeface="Times New Roman" pitchFamily="18" charset="0"/>
                <a:cs typeface="Times New Roman" pitchFamily="18" charset="0"/>
              </a:rPr>
              <a:t>:</a:t>
            </a:r>
            <a:r>
              <a:rPr lang="en-GB" dirty="0">
                <a:solidFill>
                  <a:schemeClr val="tx1"/>
                </a:solidFill>
                <a:latin typeface="Times New Roman" pitchFamily="18" charset="0"/>
                <a:cs typeface="Times New Roman" pitchFamily="18" charset="0"/>
              </a:rPr>
              <a:t> Temporary in-memory lists (no database)</a:t>
            </a:r>
            <a:endParaRPr lang="en-US" dirty="0">
              <a:solidFill>
                <a:schemeClr val="tx1"/>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D6C24464-40AB-1A65-ACF2-F97011AEAA8A}"/>
              </a:ext>
            </a:extLst>
          </p:cNvPr>
          <p:cNvSpPr txBox="1"/>
          <p:nvPr/>
        </p:nvSpPr>
        <p:spPr>
          <a:xfrm>
            <a:off x="513273" y="1592377"/>
            <a:ext cx="6098874" cy="369332"/>
          </a:xfrm>
          <a:prstGeom prst="rect">
            <a:avLst/>
          </a:prstGeom>
          <a:noFill/>
        </p:spPr>
        <p:txBody>
          <a:bodyPr wrap="square">
            <a:spAutoFit/>
          </a:bodyPr>
          <a:lstStyle/>
          <a:p>
            <a:pPr lvl="1"/>
            <a:r>
              <a:rPr lang="en-US" b="1" dirty="0">
                <a:latin typeface="Times New Roman" pitchFamily="18" charset="0"/>
                <a:cs typeface="Times New Roman" pitchFamily="18" charset="0"/>
              </a:rPr>
              <a:t>Software Requirements:</a:t>
            </a:r>
          </a:p>
        </p:txBody>
      </p:sp>
    </p:spTree>
    <p:extLst>
      <p:ext uri="{BB962C8B-B14F-4D97-AF65-F5344CB8AC3E}">
        <p14:creationId xmlns:p14="http://schemas.microsoft.com/office/powerpoint/2010/main" val="651685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2" y="355600"/>
            <a:ext cx="10173547" cy="1198880"/>
          </a:xfrm>
          <a:ln>
            <a:solidFill>
              <a:schemeClr val="accent2"/>
            </a:solidFill>
          </a:ln>
        </p:spPr>
        <p:txBody>
          <a:bodyPr>
            <a:normAutofit fontScale="90000"/>
          </a:bodyPr>
          <a:lstStyle/>
          <a:p>
            <a:pPr>
              <a:lnSpc>
                <a:spcPct val="200000"/>
              </a:lnSpc>
            </a:pPr>
            <a:r>
              <a:rPr lang="en-US" dirty="0"/>
              <a:t> </a:t>
            </a:r>
            <a:r>
              <a:rPr lang="en-US" dirty="0">
                <a:latin typeface="Times New Roman" pitchFamily="18" charset="0"/>
                <a:cs typeface="Times New Roman" pitchFamily="18" charset="0"/>
              </a:rPr>
              <a:t>SYSTEM DESIGN</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pic>
        <p:nvPicPr>
          <p:cNvPr id="21507" name="Picture 3"/>
          <p:cNvPicPr>
            <a:picLocks noGrp="1" noChangeAspect="1" noChangeArrowheads="1"/>
          </p:cNvPicPr>
          <p:nvPr>
            <p:ph idx="1"/>
          </p:nvPr>
        </p:nvPicPr>
        <p:blipFill>
          <a:blip r:embed="rId2"/>
          <a:stretch>
            <a:fillRect/>
          </a:stretch>
        </p:blipFill>
        <p:spPr bwMode="auto">
          <a:xfrm>
            <a:off x="4280216" y="2200844"/>
            <a:ext cx="5221733" cy="3881437"/>
          </a:xfrm>
          <a:prstGeom prst="rect">
            <a:avLst/>
          </a:prstGeom>
          <a:ln>
            <a:noFill/>
          </a:ln>
          <a:effectLst>
            <a:softEdge rad="112500"/>
          </a:effectLst>
        </p:spPr>
      </p:pic>
      <p:sp>
        <p:nvSpPr>
          <p:cNvPr id="5" name="Title 1"/>
          <p:cNvSpPr txBox="1">
            <a:spLocks/>
          </p:cNvSpPr>
          <p:nvPr/>
        </p:nvSpPr>
        <p:spPr>
          <a:xfrm>
            <a:off x="559108" y="1882371"/>
            <a:ext cx="8596668" cy="772160"/>
          </a:xfrm>
          <a:prstGeom prst="rect">
            <a:avLst/>
          </a:prstGeom>
          <a:ln>
            <a:noFill/>
          </a:ln>
        </p:spPr>
        <p:txBody>
          <a:bodyPr vert="horz" lIns="91440" tIns="45720" rIns="91440" bIns="45720" rtlCol="0" anchor="t">
            <a:normAutofit fontScale="8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4000" dirty="0"/>
          </a:p>
          <a:p>
            <a:r>
              <a:rPr lang="en-US" sz="2700" dirty="0">
                <a:solidFill>
                  <a:schemeClr val="tx1"/>
                </a:solidFill>
                <a:latin typeface="Times New Roman" pitchFamily="18" charset="0"/>
                <a:cs typeface="Times New Roman" pitchFamily="18" charset="0"/>
              </a:rPr>
              <a:t>SYSTEM ARCHITECHTURE</a:t>
            </a:r>
            <a:r>
              <a:rPr lang="en-US" sz="2700" dirty="0">
                <a:solidFill>
                  <a:schemeClr val="tx1"/>
                </a:solidFill>
              </a:rPr>
              <a:t>:</a:t>
            </a:r>
          </a:p>
        </p:txBody>
      </p:sp>
      <p:sp>
        <p:nvSpPr>
          <p:cNvPr id="21506" name="AutoShape 2" descr="blob:https://web.whatsapp.com/118e5177-b0c8-4fdd-8f51-047f7de4639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70598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482666" cy="1320800"/>
          </a:xfrm>
          <a:ln>
            <a:solidFill>
              <a:schemeClr val="accent2"/>
            </a:solidFill>
          </a:ln>
        </p:spPr>
        <p:txBody>
          <a:bodyPr/>
          <a:lstStyle/>
          <a:p>
            <a:pPr>
              <a:lnSpc>
                <a:spcPct val="200000"/>
              </a:lnSpc>
            </a:pPr>
            <a:r>
              <a:rPr lang="en-US" dirty="0"/>
              <a:t> </a:t>
            </a:r>
            <a:r>
              <a:rPr lang="en-US" dirty="0">
                <a:latin typeface="Times New Roman" pitchFamily="18" charset="0"/>
                <a:cs typeface="Times New Roman" pitchFamily="18" charset="0"/>
              </a:rPr>
              <a:t>ALGORITHM USED</a:t>
            </a:r>
          </a:p>
        </p:txBody>
      </p:sp>
      <p:sp>
        <p:nvSpPr>
          <p:cNvPr id="3" name="Content Placeholder 2"/>
          <p:cNvSpPr>
            <a:spLocks noGrp="1"/>
          </p:cNvSpPr>
          <p:nvPr>
            <p:ph idx="1"/>
          </p:nvPr>
        </p:nvSpPr>
        <p:spPr>
          <a:xfrm>
            <a:off x="1154854" y="2252029"/>
            <a:ext cx="8596668" cy="3880773"/>
          </a:xfrm>
        </p:spPr>
        <p:txBody>
          <a:bodyPr>
            <a:normAutofit fontScale="85000" lnSpcReduction="10000"/>
          </a:bodyPr>
          <a:lstStyle/>
          <a:p>
            <a:r>
              <a:rPr lang="en-GB" dirty="0">
                <a:solidFill>
                  <a:schemeClr val="tx1"/>
                </a:solidFill>
                <a:latin typeface="Times New Roman" pitchFamily="18" charset="0"/>
                <a:cs typeface="Times New Roman" pitchFamily="18" charset="0"/>
              </a:rPr>
              <a:t>The system displays a list of available medicines statically on the webpage since there is no database to fetch from.</a:t>
            </a:r>
          </a:p>
          <a:p>
            <a:r>
              <a:rPr lang="en-GB" dirty="0">
                <a:solidFill>
                  <a:schemeClr val="tx1"/>
                </a:solidFill>
                <a:latin typeface="Times New Roman" pitchFamily="18" charset="0"/>
                <a:cs typeface="Times New Roman" pitchFamily="18" charset="0"/>
              </a:rPr>
              <a:t>Users select medicines and specify quantity via HTML form elements like checkboxes or dropdowns.</a:t>
            </a:r>
          </a:p>
          <a:p>
            <a:r>
              <a:rPr lang="en-GB" dirty="0">
                <a:solidFill>
                  <a:schemeClr val="tx1"/>
                </a:solidFill>
                <a:latin typeface="Times New Roman" pitchFamily="18" charset="0"/>
                <a:cs typeface="Times New Roman" pitchFamily="18" charset="0"/>
              </a:rPr>
              <a:t>When the user submits the order form, the system collects order details using basic client-side scripting (JavaScript) or form submission.</a:t>
            </a:r>
          </a:p>
          <a:p>
            <a:r>
              <a:rPr lang="en-GB" dirty="0">
                <a:solidFill>
                  <a:schemeClr val="tx1"/>
                </a:solidFill>
                <a:latin typeface="Times New Roman" pitchFamily="18" charset="0"/>
                <a:cs typeface="Times New Roman" pitchFamily="18" charset="0"/>
              </a:rPr>
              <a:t>The system calculates the total price and displays an order summary dynamically on the page without needing to store data on a server.</a:t>
            </a:r>
          </a:p>
          <a:p>
            <a:r>
              <a:rPr lang="en-GB" dirty="0">
                <a:solidFill>
                  <a:schemeClr val="tx1"/>
                </a:solidFill>
                <a:latin typeface="Times New Roman" pitchFamily="18" charset="0"/>
                <a:cs typeface="Times New Roman" pitchFamily="18" charset="0"/>
              </a:rPr>
              <a:t>The user enters delivery details manually into the form (name, address, contact info).</a:t>
            </a:r>
          </a:p>
          <a:p>
            <a:r>
              <a:rPr lang="en-GB" dirty="0">
                <a:solidFill>
                  <a:schemeClr val="tx1"/>
                </a:solidFill>
                <a:latin typeface="Times New Roman" pitchFamily="18" charset="0"/>
                <a:cs typeface="Times New Roman" pitchFamily="18" charset="0"/>
              </a:rPr>
              <a:t>Upon confirmation, the system generates a printable or downloadable receipt showing the order and delivery details.</a:t>
            </a:r>
          </a:p>
          <a:p>
            <a:r>
              <a:rPr lang="en-GB" dirty="0">
                <a:solidFill>
                  <a:schemeClr val="tx1"/>
                </a:solidFill>
                <a:latin typeface="Times New Roman" pitchFamily="18" charset="0"/>
                <a:cs typeface="Times New Roman" pitchFamily="18" charset="0"/>
              </a:rPr>
              <a:t>Since there is no backend or database, the order is not stored; the user is advised to contact the pharmacy manually or via provided contact info.</a:t>
            </a:r>
          </a:p>
          <a:p>
            <a:r>
              <a:rPr lang="en-GB" dirty="0">
                <a:solidFill>
                  <a:schemeClr val="tx1"/>
                </a:solidFill>
                <a:latin typeface="Times New Roman" pitchFamily="18" charset="0"/>
                <a:cs typeface="Times New Roman" pitchFamily="18" charset="0"/>
              </a:rPr>
              <a:t>The system can optionally send order details via email using a client mailto link, but no automated processing is done.</a:t>
            </a:r>
          </a:p>
          <a:p>
            <a:endParaRPr lang="en-US" dirty="0"/>
          </a:p>
        </p:txBody>
      </p:sp>
    </p:spTree>
    <p:extLst>
      <p:ext uri="{BB962C8B-B14F-4D97-AF65-F5344CB8AC3E}">
        <p14:creationId xmlns:p14="http://schemas.microsoft.com/office/powerpoint/2010/main" val="1469860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08000"/>
            <a:ext cx="9807786" cy="1351280"/>
          </a:xfrm>
          <a:ln>
            <a:solidFill>
              <a:schemeClr val="accent2"/>
            </a:solidFill>
          </a:ln>
        </p:spPr>
        <p:txBody>
          <a:bodyPr>
            <a:normAutofit/>
          </a:bodyPr>
          <a:lstStyle/>
          <a:p>
            <a:pPr>
              <a:lnSpc>
                <a:spcPct val="200000"/>
              </a:lnSpc>
            </a:pPr>
            <a:r>
              <a:rPr lang="en-US" dirty="0"/>
              <a:t> </a:t>
            </a:r>
            <a:r>
              <a:rPr lang="en-US" dirty="0">
                <a:latin typeface="Times New Roman" pitchFamily="18" charset="0"/>
                <a:cs typeface="Times New Roman" pitchFamily="18" charset="0"/>
              </a:rPr>
              <a:t>UML DIAGRAMS</a:t>
            </a:r>
            <a:endParaRPr lang="en-US" sz="2900" dirty="0">
              <a:latin typeface="Times New Roman" pitchFamily="18" charset="0"/>
              <a:cs typeface="Times New Roman" pitchFamily="18" charset="0"/>
            </a:endParaRPr>
          </a:p>
        </p:txBody>
      </p:sp>
      <p:pic>
        <p:nvPicPr>
          <p:cNvPr id="7" name="Content Placeholder 6" descr="fgu.jpg"/>
          <p:cNvPicPr>
            <a:picLocks noGrp="1" noChangeAspect="1"/>
          </p:cNvPicPr>
          <p:nvPr>
            <p:ph idx="1"/>
          </p:nvPr>
        </p:nvPicPr>
        <p:blipFill>
          <a:blip r:embed="rId2"/>
          <a:stretch>
            <a:fillRect/>
          </a:stretch>
        </p:blipFill>
        <p:spPr>
          <a:xfrm>
            <a:off x="4240186" y="2333116"/>
            <a:ext cx="4988558" cy="3881437"/>
          </a:xfrm>
        </p:spPr>
      </p:pic>
      <p:sp>
        <p:nvSpPr>
          <p:cNvPr id="5" name="Title 1"/>
          <p:cNvSpPr txBox="1">
            <a:spLocks/>
          </p:cNvSpPr>
          <p:nvPr/>
        </p:nvSpPr>
        <p:spPr>
          <a:xfrm>
            <a:off x="632076" y="2099628"/>
            <a:ext cx="8596668" cy="687388"/>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tx1"/>
                </a:solidFill>
                <a:latin typeface="Times New Roman" pitchFamily="18" charset="0"/>
                <a:cs typeface="Times New Roman" pitchFamily="18" charset="0"/>
              </a:rPr>
              <a:t>USECASE DIAGRAM</a:t>
            </a:r>
            <a:r>
              <a:rPr lang="en-US" sz="2900" dirty="0">
                <a:solidFill>
                  <a:schemeClr val="tx1"/>
                </a:solidFill>
                <a:latin typeface="Times New Roman" pitchFamily="18" charset="0"/>
                <a:cs typeface="Times New Roman" pitchFamily="18" charset="0"/>
              </a:rPr>
              <a:t>:</a:t>
            </a:r>
          </a:p>
        </p:txBody>
      </p:sp>
    </p:spTree>
    <p:extLst>
      <p:ext uri="{BB962C8B-B14F-4D97-AF65-F5344CB8AC3E}">
        <p14:creationId xmlns:p14="http://schemas.microsoft.com/office/powerpoint/2010/main" val="993988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2752" y="554181"/>
            <a:ext cx="8596668" cy="1320800"/>
          </a:xfrm>
        </p:spPr>
        <p:txBody>
          <a:bodyPr>
            <a:normAutofit/>
          </a:bodyPr>
          <a:lstStyle/>
          <a:p>
            <a:r>
              <a:rPr lang="en-US" dirty="0"/>
              <a:t> </a:t>
            </a:r>
            <a:br>
              <a:rPr lang="en-US" dirty="0"/>
            </a:br>
            <a:r>
              <a:rPr lang="en-US" sz="2700" dirty="0">
                <a:solidFill>
                  <a:schemeClr val="tx1"/>
                </a:solidFill>
                <a:latin typeface="Times New Roman" pitchFamily="18" charset="0"/>
                <a:cs typeface="Times New Roman" pitchFamily="18" charset="0"/>
              </a:rPr>
              <a:t>COLLABORATION DIAGRAM:</a:t>
            </a:r>
          </a:p>
        </p:txBody>
      </p:sp>
      <p:pic>
        <p:nvPicPr>
          <p:cNvPr id="4" name="Content Placeholder 3" descr="bgyh.jpg"/>
          <p:cNvPicPr>
            <a:picLocks noGrp="1" noChangeAspect="1"/>
          </p:cNvPicPr>
          <p:nvPr>
            <p:ph idx="1"/>
          </p:nvPr>
        </p:nvPicPr>
        <p:blipFill>
          <a:blip r:embed="rId2"/>
          <a:stretch>
            <a:fillRect/>
          </a:stretch>
        </p:blipFill>
        <p:spPr>
          <a:xfrm>
            <a:off x="2549271" y="2160588"/>
            <a:ext cx="4853495" cy="3881437"/>
          </a:xfrm>
        </p:spPr>
      </p:pic>
    </p:spTree>
    <p:extLst>
      <p:ext uri="{BB962C8B-B14F-4D97-AF65-F5344CB8AC3E}">
        <p14:creationId xmlns:p14="http://schemas.microsoft.com/office/powerpoint/2010/main" val="3307299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br>
              <a:rPr lang="en-US" sz="2700" dirty="0">
                <a:solidFill>
                  <a:schemeClr val="tx1"/>
                </a:solidFill>
              </a:rPr>
            </a:br>
            <a:r>
              <a:rPr lang="en-US" sz="2700" dirty="0">
                <a:solidFill>
                  <a:schemeClr val="tx1"/>
                </a:solidFill>
                <a:latin typeface="Times New Roman" pitchFamily="18" charset="0"/>
                <a:cs typeface="Times New Roman" pitchFamily="18" charset="0"/>
              </a:rPr>
              <a:t>SEQUENCE DIAGRAM:</a:t>
            </a:r>
          </a:p>
        </p:txBody>
      </p:sp>
      <p:pic>
        <p:nvPicPr>
          <p:cNvPr id="6" name="Content Placeholder 5" descr="g.jpg"/>
          <p:cNvPicPr>
            <a:picLocks noGrp="1" noChangeAspect="1"/>
          </p:cNvPicPr>
          <p:nvPr>
            <p:ph idx="1"/>
          </p:nvPr>
        </p:nvPicPr>
        <p:blipFill>
          <a:blip r:embed="rId2"/>
          <a:stretch>
            <a:fillRect/>
          </a:stretch>
        </p:blipFill>
        <p:spPr>
          <a:xfrm>
            <a:off x="3049765" y="2160588"/>
            <a:ext cx="3852507" cy="3881437"/>
          </a:xfrm>
        </p:spPr>
      </p:pic>
    </p:spTree>
    <p:extLst>
      <p:ext uri="{BB962C8B-B14F-4D97-AF65-F5344CB8AC3E}">
        <p14:creationId xmlns:p14="http://schemas.microsoft.com/office/powerpoint/2010/main" val="141985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br>
              <a:rPr lang="en-US" dirty="0"/>
            </a:br>
            <a:r>
              <a:rPr lang="en-US" sz="2700" dirty="0">
                <a:solidFill>
                  <a:schemeClr val="tx1"/>
                </a:solidFill>
                <a:latin typeface="Times New Roman" pitchFamily="18" charset="0"/>
                <a:cs typeface="Times New Roman" pitchFamily="18" charset="0"/>
              </a:rPr>
              <a:t>CLASS DIAGRAM:</a:t>
            </a:r>
          </a:p>
        </p:txBody>
      </p:sp>
      <p:pic>
        <p:nvPicPr>
          <p:cNvPr id="16385" name="Picture 1"/>
          <p:cNvPicPr>
            <a:picLocks noGrp="1" noChangeAspect="1" noChangeArrowheads="1"/>
          </p:cNvPicPr>
          <p:nvPr>
            <p:ph idx="1"/>
          </p:nvPr>
        </p:nvPicPr>
        <p:blipFill>
          <a:blip r:embed="rId2"/>
          <a:stretch>
            <a:fillRect/>
          </a:stretch>
        </p:blipFill>
        <p:spPr bwMode="auto">
          <a:xfrm>
            <a:off x="3023196" y="2160588"/>
            <a:ext cx="3905645" cy="3881437"/>
          </a:xfrm>
          <a:prstGeom prst="rect">
            <a:avLst/>
          </a:prstGeom>
          <a:noFill/>
          <a:ln w="9525">
            <a:noFill/>
            <a:miter lim="800000"/>
            <a:headEnd/>
            <a:tailEnd/>
          </a:ln>
          <a:effectLst/>
        </p:spPr>
      </p:pic>
    </p:spTree>
    <p:extLst>
      <p:ext uri="{BB962C8B-B14F-4D97-AF65-F5344CB8AC3E}">
        <p14:creationId xmlns:p14="http://schemas.microsoft.com/office/powerpoint/2010/main" val="3882852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462346" cy="1320800"/>
          </a:xfrm>
          <a:ln>
            <a:solidFill>
              <a:schemeClr val="accent2"/>
            </a:solidFill>
          </a:ln>
        </p:spPr>
        <p:txBody>
          <a:bodyPr/>
          <a:lstStyle/>
          <a:p>
            <a:pPr>
              <a:lnSpc>
                <a:spcPct val="200000"/>
              </a:lnSpc>
            </a:pPr>
            <a:r>
              <a:rPr lang="en-US" dirty="0"/>
              <a:t> </a:t>
            </a:r>
            <a:r>
              <a:rPr lang="en-US" dirty="0">
                <a:latin typeface="Times New Roman" pitchFamily="18" charset="0"/>
                <a:cs typeface="Times New Roman" pitchFamily="18" charset="0"/>
              </a:rPr>
              <a:t>TESTCASES</a:t>
            </a:r>
          </a:p>
        </p:txBody>
      </p:sp>
      <p:graphicFrame>
        <p:nvGraphicFramePr>
          <p:cNvPr id="27" name="Table 26"/>
          <p:cNvGraphicFramePr>
            <a:graphicFrameLocks noGrp="1"/>
          </p:cNvGraphicFramePr>
          <p:nvPr/>
        </p:nvGraphicFramePr>
        <p:xfrm>
          <a:off x="2273300" y="2225042"/>
          <a:ext cx="6172200" cy="4152802"/>
        </p:xfrm>
        <a:graphic>
          <a:graphicData uri="http://schemas.openxmlformats.org/drawingml/2006/table">
            <a:tbl>
              <a:tblPr firstRow="1" bandRow="1">
                <a:tableStyleId>{5C22544A-7EE6-4342-B048-85BDC9FD1C3A}</a:tableStyleId>
              </a:tblPr>
              <a:tblGrid>
                <a:gridCol w="8001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30302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tblGrid>
              <a:tr h="373286">
                <a:tc>
                  <a:txBody>
                    <a:bodyPr/>
                    <a:lstStyle/>
                    <a:p>
                      <a:pPr algn="ctr"/>
                      <a:r>
                        <a:rPr lang="en-US" sz="800" dirty="0"/>
                        <a:t>Test Case ID</a:t>
                      </a:r>
                    </a:p>
                  </a:txBody>
                  <a:tcPr marL="41364" marR="41364" marT="20682" marB="20682" anchor="ctr"/>
                </a:tc>
                <a:tc>
                  <a:txBody>
                    <a:bodyPr/>
                    <a:lstStyle/>
                    <a:p>
                      <a:pPr algn="ctr"/>
                      <a:r>
                        <a:rPr lang="en-US" sz="800" dirty="0"/>
                        <a:t>Description</a:t>
                      </a:r>
                    </a:p>
                  </a:txBody>
                  <a:tcPr marL="41364" marR="41364" marT="20682" marB="20682" anchor="ctr"/>
                </a:tc>
                <a:tc>
                  <a:txBody>
                    <a:bodyPr/>
                    <a:lstStyle/>
                    <a:p>
                      <a:pPr algn="ctr"/>
                      <a:r>
                        <a:rPr lang="en-US" sz="800" dirty="0"/>
                        <a:t>Input</a:t>
                      </a:r>
                    </a:p>
                  </a:txBody>
                  <a:tcPr marL="41364" marR="41364" marT="20682" marB="20682" anchor="ctr"/>
                </a:tc>
                <a:tc>
                  <a:txBody>
                    <a:bodyPr/>
                    <a:lstStyle/>
                    <a:p>
                      <a:pPr algn="ctr"/>
                      <a:r>
                        <a:rPr lang="en-US" sz="800" dirty="0"/>
                        <a:t>Expected Output</a:t>
                      </a:r>
                    </a:p>
                  </a:txBody>
                  <a:tcPr marL="41364" marR="41364" marT="20682" marB="20682" anchor="ctr"/>
                </a:tc>
                <a:tc>
                  <a:txBody>
                    <a:bodyPr/>
                    <a:lstStyle/>
                    <a:p>
                      <a:pPr algn="ctr"/>
                      <a:r>
                        <a:rPr lang="en-US" sz="800" dirty="0"/>
                        <a:t>Notes</a:t>
                      </a:r>
                    </a:p>
                  </a:txBody>
                  <a:tcPr marL="41364" marR="41364" marT="20682" marB="20682" anchor="ctr"/>
                </a:tc>
                <a:extLst>
                  <a:ext uri="{0D108BD9-81ED-4DB2-BD59-A6C34878D82A}">
                    <a16:rowId xmlns:a16="http://schemas.microsoft.com/office/drawing/2014/main" val="10000"/>
                  </a:ext>
                </a:extLst>
              </a:tr>
              <a:tr h="373286">
                <a:tc>
                  <a:txBody>
                    <a:bodyPr/>
                    <a:lstStyle/>
                    <a:p>
                      <a:pPr algn="ctr"/>
                      <a:r>
                        <a:rPr lang="en-US" sz="800" dirty="0"/>
                        <a:t>       01</a:t>
                      </a:r>
                    </a:p>
                  </a:txBody>
                  <a:tcPr marL="41364" marR="41364" marT="20682" marB="20682" anchor="ctr"/>
                </a:tc>
                <a:tc>
                  <a:txBody>
                    <a:bodyPr/>
                    <a:lstStyle/>
                    <a:p>
                      <a:r>
                        <a:rPr lang="en-GB" sz="800" dirty="0"/>
                        <a:t>Add a new medicine delivery request</a:t>
                      </a:r>
                    </a:p>
                  </a:txBody>
                  <a:tcPr marL="41364" marR="41364" marT="20682" marB="20682" anchor="ctr"/>
                </a:tc>
                <a:tc>
                  <a:txBody>
                    <a:bodyPr/>
                    <a:lstStyle/>
                    <a:p>
                      <a:r>
                        <a:rPr lang="en-GB" sz="800"/>
                        <a:t>Valid medicine, quantity, address, phone</a:t>
                      </a:r>
                    </a:p>
                  </a:txBody>
                  <a:tcPr marL="41364" marR="41364" marT="20682" marB="20682" anchor="ctr"/>
                </a:tc>
                <a:tc>
                  <a:txBody>
                    <a:bodyPr/>
                    <a:lstStyle/>
                    <a:p>
                      <a:r>
                        <a:rPr lang="en-US" sz="800"/>
                        <a:t>Success message, request added</a:t>
                      </a:r>
                    </a:p>
                  </a:txBody>
                  <a:tcPr marL="41364" marR="41364" marT="20682" marB="20682" anchor="ctr"/>
                </a:tc>
                <a:tc>
                  <a:txBody>
                    <a:bodyPr/>
                    <a:lstStyle/>
                    <a:p>
                      <a:r>
                        <a:rPr lang="en-US" sz="800"/>
                        <a:t>Validate inputs</a:t>
                      </a:r>
                    </a:p>
                  </a:txBody>
                  <a:tcPr marL="41364" marR="41364" marT="20682" marB="20682" anchor="ctr"/>
                </a:tc>
                <a:extLst>
                  <a:ext uri="{0D108BD9-81ED-4DB2-BD59-A6C34878D82A}">
                    <a16:rowId xmlns:a16="http://schemas.microsoft.com/office/drawing/2014/main" val="10001"/>
                  </a:ext>
                </a:extLst>
              </a:tr>
              <a:tr h="378470">
                <a:tc>
                  <a:txBody>
                    <a:bodyPr/>
                    <a:lstStyle/>
                    <a:p>
                      <a:pPr algn="ctr"/>
                      <a:r>
                        <a:rPr lang="en-US" sz="800" dirty="0"/>
                        <a:t>     02</a:t>
                      </a:r>
                    </a:p>
                  </a:txBody>
                  <a:tcPr marL="41364" marR="41364" marT="20682" marB="20682" anchor="ctr"/>
                </a:tc>
                <a:tc>
                  <a:txBody>
                    <a:bodyPr/>
                    <a:lstStyle/>
                    <a:p>
                      <a:r>
                        <a:rPr lang="en-GB" sz="800"/>
                        <a:t>Add request with missing fields</a:t>
                      </a:r>
                    </a:p>
                  </a:txBody>
                  <a:tcPr marL="41364" marR="41364" marT="20682" marB="20682" anchor="ctr"/>
                </a:tc>
                <a:tc>
                  <a:txBody>
                    <a:bodyPr/>
                    <a:lstStyle/>
                    <a:p>
                      <a:r>
                        <a:rPr lang="en-GB" sz="800"/>
                        <a:t>Missing medicine name or phone</a:t>
                      </a:r>
                    </a:p>
                  </a:txBody>
                  <a:tcPr marL="41364" marR="41364" marT="20682" marB="20682" anchor="ctr"/>
                </a:tc>
                <a:tc>
                  <a:txBody>
                    <a:bodyPr/>
                    <a:lstStyle/>
                    <a:p>
                      <a:r>
                        <a:rPr lang="en-US" sz="800"/>
                        <a:t>Error: "Required fields missing"</a:t>
                      </a:r>
                    </a:p>
                  </a:txBody>
                  <a:tcPr marL="41364" marR="41364" marT="20682" marB="20682" anchor="ctr"/>
                </a:tc>
                <a:tc>
                  <a:txBody>
                    <a:bodyPr/>
                    <a:lstStyle/>
                    <a:p>
                      <a:r>
                        <a:rPr lang="en-US" sz="800"/>
                        <a:t>Input validation</a:t>
                      </a:r>
                    </a:p>
                  </a:txBody>
                  <a:tcPr marL="41364" marR="41364" marT="20682" marB="20682" anchor="ctr"/>
                </a:tc>
                <a:extLst>
                  <a:ext uri="{0D108BD9-81ED-4DB2-BD59-A6C34878D82A}">
                    <a16:rowId xmlns:a16="http://schemas.microsoft.com/office/drawing/2014/main" val="10002"/>
                  </a:ext>
                </a:extLst>
              </a:tr>
              <a:tr h="378470">
                <a:tc>
                  <a:txBody>
                    <a:bodyPr/>
                    <a:lstStyle/>
                    <a:p>
                      <a:pPr algn="ctr"/>
                      <a:r>
                        <a:rPr lang="en-US" sz="800" baseline="0" dirty="0"/>
                        <a:t>     </a:t>
                      </a:r>
                      <a:r>
                        <a:rPr lang="en-US" sz="800" dirty="0"/>
                        <a:t>03</a:t>
                      </a:r>
                    </a:p>
                  </a:txBody>
                  <a:tcPr marL="41364" marR="41364" marT="20682" marB="20682" anchor="ctr"/>
                </a:tc>
                <a:tc>
                  <a:txBody>
                    <a:bodyPr/>
                    <a:lstStyle/>
                    <a:p>
                      <a:r>
                        <a:rPr lang="en-US" sz="800" dirty="0"/>
                        <a:t>View all delivery requests</a:t>
                      </a:r>
                    </a:p>
                  </a:txBody>
                  <a:tcPr marL="41364" marR="41364" marT="20682" marB="20682" anchor="ctr"/>
                </a:tc>
                <a:tc>
                  <a:txBody>
                    <a:bodyPr/>
                    <a:lstStyle/>
                    <a:p>
                      <a:r>
                        <a:rPr lang="en-US" sz="800"/>
                        <a:t>N/A</a:t>
                      </a:r>
                    </a:p>
                  </a:txBody>
                  <a:tcPr marL="41364" marR="41364" marT="20682" marB="20682" anchor="ctr"/>
                </a:tc>
                <a:tc>
                  <a:txBody>
                    <a:bodyPr/>
                    <a:lstStyle/>
                    <a:p>
                      <a:r>
                        <a:rPr lang="en-GB" sz="800"/>
                        <a:t>List of all delivery requests</a:t>
                      </a:r>
                    </a:p>
                  </a:txBody>
                  <a:tcPr marL="41364" marR="41364" marT="20682" marB="20682" anchor="ctr"/>
                </a:tc>
                <a:tc>
                  <a:txBody>
                    <a:bodyPr/>
                    <a:lstStyle/>
                    <a:p>
                      <a:r>
                        <a:rPr lang="en-GB" sz="800"/>
                        <a:t>Show empty list if none</a:t>
                      </a:r>
                    </a:p>
                  </a:txBody>
                  <a:tcPr marL="41364" marR="41364" marT="20682" marB="20682" anchor="ctr"/>
                </a:tc>
                <a:extLst>
                  <a:ext uri="{0D108BD9-81ED-4DB2-BD59-A6C34878D82A}">
                    <a16:rowId xmlns:a16="http://schemas.microsoft.com/office/drawing/2014/main" val="10003"/>
                  </a:ext>
                </a:extLst>
              </a:tr>
              <a:tr h="378470">
                <a:tc>
                  <a:txBody>
                    <a:bodyPr/>
                    <a:lstStyle/>
                    <a:p>
                      <a:pPr algn="ctr"/>
                      <a:r>
                        <a:rPr lang="en-US" sz="800" baseline="0" dirty="0"/>
                        <a:t>     </a:t>
                      </a:r>
                      <a:r>
                        <a:rPr lang="en-US" sz="800" dirty="0"/>
                        <a:t>04</a:t>
                      </a:r>
                    </a:p>
                  </a:txBody>
                  <a:tcPr marL="41364" marR="41364" marT="20682" marB="20682" anchor="ctr"/>
                </a:tc>
                <a:tc>
                  <a:txBody>
                    <a:bodyPr/>
                    <a:lstStyle/>
                    <a:p>
                      <a:r>
                        <a:rPr lang="en-GB" sz="800" dirty="0"/>
                        <a:t>Search request by medicine name</a:t>
                      </a:r>
                    </a:p>
                  </a:txBody>
                  <a:tcPr marL="41364" marR="41364" marT="20682" marB="20682" anchor="ctr"/>
                </a:tc>
                <a:tc>
                  <a:txBody>
                    <a:bodyPr/>
                    <a:lstStyle/>
                    <a:p>
                      <a:r>
                        <a:rPr lang="en-US" sz="800"/>
                        <a:t>Medicine name</a:t>
                      </a:r>
                    </a:p>
                  </a:txBody>
                  <a:tcPr marL="41364" marR="41364" marT="20682" marB="20682" anchor="ctr"/>
                </a:tc>
                <a:tc>
                  <a:txBody>
                    <a:bodyPr/>
                    <a:lstStyle/>
                    <a:p>
                      <a:r>
                        <a:rPr lang="en-US" sz="800"/>
                        <a:t>List of matching requests</a:t>
                      </a:r>
                    </a:p>
                  </a:txBody>
                  <a:tcPr marL="41364" marR="41364" marT="20682" marB="20682" anchor="ctr"/>
                </a:tc>
                <a:tc>
                  <a:txBody>
                    <a:bodyPr/>
                    <a:lstStyle/>
                    <a:p>
                      <a:r>
                        <a:rPr lang="en-US" sz="800"/>
                        <a:t>Case insensitive search</a:t>
                      </a:r>
                    </a:p>
                  </a:txBody>
                  <a:tcPr marL="41364" marR="41364" marT="20682" marB="20682" anchor="ctr"/>
                </a:tc>
                <a:extLst>
                  <a:ext uri="{0D108BD9-81ED-4DB2-BD59-A6C34878D82A}">
                    <a16:rowId xmlns:a16="http://schemas.microsoft.com/office/drawing/2014/main" val="10004"/>
                  </a:ext>
                </a:extLst>
              </a:tr>
              <a:tr h="378470">
                <a:tc>
                  <a:txBody>
                    <a:bodyPr/>
                    <a:lstStyle/>
                    <a:p>
                      <a:pPr algn="ctr"/>
                      <a:r>
                        <a:rPr lang="en-US" sz="800" baseline="0" dirty="0"/>
                        <a:t>     </a:t>
                      </a:r>
                      <a:r>
                        <a:rPr lang="en-US" sz="800" dirty="0"/>
                        <a:t>05</a:t>
                      </a:r>
                    </a:p>
                  </a:txBody>
                  <a:tcPr marL="41364" marR="41364" marT="20682" marB="20682" anchor="ctr"/>
                </a:tc>
                <a:tc>
                  <a:txBody>
                    <a:bodyPr/>
                    <a:lstStyle/>
                    <a:p>
                      <a:r>
                        <a:rPr lang="en-GB" sz="800" dirty="0"/>
                        <a:t>Search request by phone number</a:t>
                      </a:r>
                    </a:p>
                  </a:txBody>
                  <a:tcPr marL="41364" marR="41364" marT="20682" marB="20682" anchor="ctr"/>
                </a:tc>
                <a:tc>
                  <a:txBody>
                    <a:bodyPr/>
                    <a:lstStyle/>
                    <a:p>
                      <a:r>
                        <a:rPr lang="en-US" sz="800"/>
                        <a:t>Valid phone number</a:t>
                      </a:r>
                    </a:p>
                  </a:txBody>
                  <a:tcPr marL="41364" marR="41364" marT="20682" marB="20682" anchor="ctr"/>
                </a:tc>
                <a:tc>
                  <a:txBody>
                    <a:bodyPr/>
                    <a:lstStyle/>
                    <a:p>
                      <a:r>
                        <a:rPr lang="en-GB" sz="800"/>
                        <a:t>Requests linked to phone number</a:t>
                      </a:r>
                    </a:p>
                  </a:txBody>
                  <a:tcPr marL="41364" marR="41364" marT="20682" marB="20682" anchor="ctr"/>
                </a:tc>
                <a:tc>
                  <a:txBody>
                    <a:bodyPr/>
                    <a:lstStyle/>
                    <a:p>
                      <a:r>
                        <a:rPr lang="en-US" sz="800"/>
                        <a:t>Validate phone format</a:t>
                      </a:r>
                    </a:p>
                  </a:txBody>
                  <a:tcPr marL="41364" marR="41364" marT="20682" marB="20682" anchor="ctr"/>
                </a:tc>
                <a:extLst>
                  <a:ext uri="{0D108BD9-81ED-4DB2-BD59-A6C34878D82A}">
                    <a16:rowId xmlns:a16="http://schemas.microsoft.com/office/drawing/2014/main" val="10005"/>
                  </a:ext>
                </a:extLst>
              </a:tr>
              <a:tr h="378470">
                <a:tc>
                  <a:txBody>
                    <a:bodyPr/>
                    <a:lstStyle/>
                    <a:p>
                      <a:pPr algn="ctr"/>
                      <a:r>
                        <a:rPr lang="en-US" sz="800" baseline="0" dirty="0"/>
                        <a:t>     </a:t>
                      </a:r>
                      <a:r>
                        <a:rPr lang="en-US" sz="800" dirty="0"/>
                        <a:t>06</a:t>
                      </a:r>
                    </a:p>
                  </a:txBody>
                  <a:tcPr marL="41364" marR="41364" marT="20682" marB="20682" anchor="ctr"/>
                </a:tc>
                <a:tc>
                  <a:txBody>
                    <a:bodyPr/>
                    <a:lstStyle/>
                    <a:p>
                      <a:r>
                        <a:rPr lang="en-US" sz="800" dirty="0"/>
                        <a:t>Update existing delivery request</a:t>
                      </a:r>
                    </a:p>
                  </a:txBody>
                  <a:tcPr marL="41364" marR="41364" marT="20682" marB="20682" anchor="ctr"/>
                </a:tc>
                <a:tc>
                  <a:txBody>
                    <a:bodyPr/>
                    <a:lstStyle/>
                    <a:p>
                      <a:r>
                        <a:rPr lang="en-GB" sz="800"/>
                        <a:t>Valid Request ID, new quantity/address</a:t>
                      </a:r>
                    </a:p>
                  </a:txBody>
                  <a:tcPr marL="41364" marR="41364" marT="20682" marB="20682" anchor="ctr"/>
                </a:tc>
                <a:tc>
                  <a:txBody>
                    <a:bodyPr/>
                    <a:lstStyle/>
                    <a:p>
                      <a:r>
                        <a:rPr lang="en-US" sz="800"/>
                        <a:t>Success message, updated request</a:t>
                      </a:r>
                    </a:p>
                  </a:txBody>
                  <a:tcPr marL="41364" marR="41364" marT="20682" marB="20682" anchor="ctr"/>
                </a:tc>
                <a:tc>
                  <a:txBody>
                    <a:bodyPr/>
                    <a:lstStyle/>
                    <a:p>
                      <a:r>
                        <a:rPr lang="en-US" sz="800"/>
                        <a:t>Request ID must exist</a:t>
                      </a:r>
                    </a:p>
                  </a:txBody>
                  <a:tcPr marL="41364" marR="41364" marT="20682" marB="20682" anchor="ctr"/>
                </a:tc>
                <a:extLst>
                  <a:ext uri="{0D108BD9-81ED-4DB2-BD59-A6C34878D82A}">
                    <a16:rowId xmlns:a16="http://schemas.microsoft.com/office/drawing/2014/main" val="10006"/>
                  </a:ext>
                </a:extLst>
              </a:tr>
              <a:tr h="378470">
                <a:tc>
                  <a:txBody>
                    <a:bodyPr/>
                    <a:lstStyle/>
                    <a:p>
                      <a:pPr algn="ctr"/>
                      <a:r>
                        <a:rPr lang="en-US" sz="800" baseline="0" dirty="0"/>
                        <a:t>     </a:t>
                      </a:r>
                      <a:r>
                        <a:rPr lang="en-US" sz="800" dirty="0"/>
                        <a:t>07</a:t>
                      </a:r>
                    </a:p>
                  </a:txBody>
                  <a:tcPr marL="41364" marR="41364" marT="20682" marB="20682" anchor="ctr"/>
                </a:tc>
                <a:tc>
                  <a:txBody>
                    <a:bodyPr/>
                    <a:lstStyle/>
                    <a:p>
                      <a:r>
                        <a:rPr lang="en-US" sz="800" dirty="0"/>
                        <a:t>Update non-existing request</a:t>
                      </a:r>
                    </a:p>
                  </a:txBody>
                  <a:tcPr marL="41364" marR="41364" marT="20682" marB="20682" anchor="ctr"/>
                </a:tc>
                <a:tc>
                  <a:txBody>
                    <a:bodyPr/>
                    <a:lstStyle/>
                    <a:p>
                      <a:r>
                        <a:rPr lang="en-US" sz="800" dirty="0"/>
                        <a:t>Invalid Request ID</a:t>
                      </a:r>
                    </a:p>
                  </a:txBody>
                  <a:tcPr marL="41364" marR="41364" marT="20682" marB="20682" anchor="ctr"/>
                </a:tc>
                <a:tc>
                  <a:txBody>
                    <a:bodyPr/>
                    <a:lstStyle/>
                    <a:p>
                      <a:r>
                        <a:rPr lang="en-US" sz="800"/>
                        <a:t>Error: "Request not found"</a:t>
                      </a:r>
                    </a:p>
                  </a:txBody>
                  <a:tcPr marL="41364" marR="41364" marT="20682" marB="20682" anchor="ctr"/>
                </a:tc>
                <a:tc>
                  <a:txBody>
                    <a:bodyPr/>
                    <a:lstStyle/>
                    <a:p>
                      <a:r>
                        <a:rPr lang="en-US" sz="800"/>
                        <a:t>Handle invalid IDs</a:t>
                      </a:r>
                    </a:p>
                  </a:txBody>
                  <a:tcPr marL="41364" marR="41364" marT="20682" marB="20682" anchor="ctr"/>
                </a:tc>
                <a:extLst>
                  <a:ext uri="{0D108BD9-81ED-4DB2-BD59-A6C34878D82A}">
                    <a16:rowId xmlns:a16="http://schemas.microsoft.com/office/drawing/2014/main" val="10007"/>
                  </a:ext>
                </a:extLst>
              </a:tr>
              <a:tr h="378470">
                <a:tc>
                  <a:txBody>
                    <a:bodyPr/>
                    <a:lstStyle/>
                    <a:p>
                      <a:pPr algn="ctr"/>
                      <a:r>
                        <a:rPr lang="en-US" sz="800" baseline="0" dirty="0"/>
                        <a:t>     </a:t>
                      </a:r>
                      <a:r>
                        <a:rPr lang="en-US" sz="800" dirty="0"/>
                        <a:t>08</a:t>
                      </a:r>
                    </a:p>
                  </a:txBody>
                  <a:tcPr marL="41364" marR="41364" marT="20682" marB="20682" anchor="ctr"/>
                </a:tc>
                <a:tc>
                  <a:txBody>
                    <a:bodyPr/>
                    <a:lstStyle/>
                    <a:p>
                      <a:r>
                        <a:rPr lang="en-US" sz="800"/>
                        <a:t>Delete a delivery request</a:t>
                      </a:r>
                    </a:p>
                  </a:txBody>
                  <a:tcPr marL="41364" marR="41364" marT="20682" marB="20682" anchor="ctr"/>
                </a:tc>
                <a:tc>
                  <a:txBody>
                    <a:bodyPr/>
                    <a:lstStyle/>
                    <a:p>
                      <a:r>
                        <a:rPr lang="en-US" sz="800" dirty="0"/>
                        <a:t>Valid Request ID</a:t>
                      </a:r>
                    </a:p>
                  </a:txBody>
                  <a:tcPr marL="41364" marR="41364" marT="20682" marB="20682" anchor="ctr"/>
                </a:tc>
                <a:tc>
                  <a:txBody>
                    <a:bodyPr/>
                    <a:lstStyle/>
                    <a:p>
                      <a:r>
                        <a:rPr lang="en-US" sz="800"/>
                        <a:t>Success message, request removed</a:t>
                      </a:r>
                    </a:p>
                  </a:txBody>
                  <a:tcPr marL="41364" marR="41364" marT="20682" marB="20682" anchor="ctr"/>
                </a:tc>
                <a:tc>
                  <a:txBody>
                    <a:bodyPr/>
                    <a:lstStyle/>
                    <a:p>
                      <a:r>
                        <a:rPr lang="en-US" sz="800"/>
                        <a:t>Request ID must exist</a:t>
                      </a:r>
                    </a:p>
                  </a:txBody>
                  <a:tcPr marL="41364" marR="41364" marT="20682" marB="20682" anchor="ctr"/>
                </a:tc>
                <a:extLst>
                  <a:ext uri="{0D108BD9-81ED-4DB2-BD59-A6C34878D82A}">
                    <a16:rowId xmlns:a16="http://schemas.microsoft.com/office/drawing/2014/main" val="10008"/>
                  </a:ext>
                </a:extLst>
              </a:tr>
              <a:tr h="378470">
                <a:tc>
                  <a:txBody>
                    <a:bodyPr/>
                    <a:lstStyle/>
                    <a:p>
                      <a:pPr algn="ctr"/>
                      <a:r>
                        <a:rPr lang="en-US" sz="800" baseline="0" dirty="0"/>
                        <a:t>     </a:t>
                      </a:r>
                      <a:r>
                        <a:rPr lang="en-US" sz="800" dirty="0"/>
                        <a:t>09</a:t>
                      </a:r>
                    </a:p>
                  </a:txBody>
                  <a:tcPr marL="41364" marR="41364" marT="20682" marB="20682" anchor="ctr"/>
                </a:tc>
                <a:tc>
                  <a:txBody>
                    <a:bodyPr/>
                    <a:lstStyle/>
                    <a:p>
                      <a:r>
                        <a:rPr lang="en-US" sz="800"/>
                        <a:t>Delete non-existing request</a:t>
                      </a:r>
                    </a:p>
                  </a:txBody>
                  <a:tcPr marL="41364" marR="41364" marT="20682" marB="20682" anchor="ctr"/>
                </a:tc>
                <a:tc>
                  <a:txBody>
                    <a:bodyPr/>
                    <a:lstStyle/>
                    <a:p>
                      <a:r>
                        <a:rPr lang="en-US" sz="800" dirty="0"/>
                        <a:t>Invalid Request ID</a:t>
                      </a:r>
                    </a:p>
                  </a:txBody>
                  <a:tcPr marL="41364" marR="41364" marT="20682" marB="20682" anchor="ctr"/>
                </a:tc>
                <a:tc>
                  <a:txBody>
                    <a:bodyPr/>
                    <a:lstStyle/>
                    <a:p>
                      <a:r>
                        <a:rPr lang="en-US" sz="800" dirty="0"/>
                        <a:t>Error: "Request not found"</a:t>
                      </a:r>
                    </a:p>
                  </a:txBody>
                  <a:tcPr marL="41364" marR="41364" marT="20682" marB="20682" anchor="ctr"/>
                </a:tc>
                <a:tc>
                  <a:txBody>
                    <a:bodyPr/>
                    <a:lstStyle/>
                    <a:p>
                      <a:r>
                        <a:rPr lang="en-US" sz="800"/>
                        <a:t>Robust deletion check</a:t>
                      </a:r>
                    </a:p>
                  </a:txBody>
                  <a:tcPr marL="41364" marR="41364" marT="20682" marB="20682" anchor="ctr"/>
                </a:tc>
                <a:extLst>
                  <a:ext uri="{0D108BD9-81ED-4DB2-BD59-A6C34878D82A}">
                    <a16:rowId xmlns:a16="http://schemas.microsoft.com/office/drawing/2014/main" val="10009"/>
                  </a:ext>
                </a:extLst>
              </a:tr>
              <a:tr h="378470">
                <a:tc>
                  <a:txBody>
                    <a:bodyPr/>
                    <a:lstStyle/>
                    <a:p>
                      <a:pPr algn="ctr"/>
                      <a:r>
                        <a:rPr lang="en-US" sz="800" baseline="0" dirty="0"/>
                        <a:t>     </a:t>
                      </a:r>
                      <a:r>
                        <a:rPr lang="en-US" sz="800" dirty="0"/>
                        <a:t>10</a:t>
                      </a:r>
                    </a:p>
                  </a:txBody>
                  <a:tcPr marL="41364" marR="41364" marT="20682" marB="20682" anchor="ctr"/>
                </a:tc>
                <a:tc>
                  <a:txBody>
                    <a:bodyPr/>
                    <a:lstStyle/>
                    <a:p>
                      <a:r>
                        <a:rPr lang="en-GB" sz="800"/>
                        <a:t>Add request with invalid phone number</a:t>
                      </a:r>
                    </a:p>
                  </a:txBody>
                  <a:tcPr marL="41364" marR="41364" marT="20682" marB="20682" anchor="ctr"/>
                </a:tc>
                <a:tc>
                  <a:txBody>
                    <a:bodyPr/>
                    <a:lstStyle/>
                    <a:p>
                      <a:r>
                        <a:rPr lang="en-US" sz="800" dirty="0"/>
                        <a:t>Phone: "abc123"</a:t>
                      </a:r>
                    </a:p>
                  </a:txBody>
                  <a:tcPr marL="41364" marR="41364" marT="20682" marB="20682" anchor="ctr"/>
                </a:tc>
                <a:tc>
                  <a:txBody>
                    <a:bodyPr/>
                    <a:lstStyle/>
                    <a:p>
                      <a:r>
                        <a:rPr lang="en-GB" sz="800" dirty="0"/>
                        <a:t>Error: "Invalid phone number format"</a:t>
                      </a:r>
                    </a:p>
                  </a:txBody>
                  <a:tcPr marL="41364" marR="41364" marT="20682" marB="20682" anchor="ctr"/>
                </a:tc>
                <a:tc>
                  <a:txBody>
                    <a:bodyPr/>
                    <a:lstStyle/>
                    <a:p>
                      <a:r>
                        <a:rPr lang="en-US" sz="800" dirty="0"/>
                        <a:t>Input validation</a:t>
                      </a:r>
                    </a:p>
                  </a:txBody>
                  <a:tcPr marL="41364" marR="41364" marT="20682" marB="20682" anchor="ct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872893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98098"/>
            <a:ext cx="9584266" cy="1320800"/>
          </a:xfrm>
          <a:ln>
            <a:solidFill>
              <a:schemeClr val="accent2"/>
            </a:solidFill>
          </a:ln>
        </p:spPr>
        <p:txBody>
          <a:bodyPr/>
          <a:lstStyle/>
          <a:p>
            <a:pPr>
              <a:lnSpc>
                <a:spcPct val="200000"/>
              </a:lnSpc>
            </a:pPr>
            <a:r>
              <a:rPr lang="en-US" dirty="0"/>
              <a:t> </a:t>
            </a:r>
            <a:r>
              <a:rPr lang="en-US" dirty="0">
                <a:latin typeface="Times New Roman" pitchFamily="18" charset="0"/>
                <a:cs typeface="Times New Roman" pitchFamily="18" charset="0"/>
              </a:rPr>
              <a:t>LANGUAGES USED</a:t>
            </a:r>
          </a:p>
        </p:txBody>
      </p:sp>
      <p:sp>
        <p:nvSpPr>
          <p:cNvPr id="3" name="Content Placeholder 2"/>
          <p:cNvSpPr>
            <a:spLocks noGrp="1"/>
          </p:cNvSpPr>
          <p:nvPr>
            <p:ph idx="1"/>
          </p:nvPr>
        </p:nvSpPr>
        <p:spPr>
          <a:xfrm>
            <a:off x="900854" y="2241869"/>
            <a:ext cx="8596668" cy="3880773"/>
          </a:xfrm>
        </p:spPr>
        <p:txBody>
          <a:bodyPr>
            <a:normAutofit/>
          </a:bodyPr>
          <a:lstStyle/>
          <a:p>
            <a:r>
              <a:rPr lang="en-US" dirty="0">
                <a:solidFill>
                  <a:schemeClr val="tx1"/>
                </a:solidFill>
                <a:latin typeface="Times New Roman" pitchFamily="18" charset="0"/>
                <a:cs typeface="Times New Roman" pitchFamily="18" charset="0"/>
              </a:rPr>
              <a:t>HTML (</a:t>
            </a:r>
            <a:r>
              <a:rPr lang="en-US" dirty="0" err="1">
                <a:solidFill>
                  <a:schemeClr val="tx1"/>
                </a:solidFill>
                <a:latin typeface="Times New Roman" pitchFamily="18" charset="0"/>
                <a:cs typeface="Times New Roman" pitchFamily="18" charset="0"/>
              </a:rPr>
              <a:t>HyperText</a:t>
            </a:r>
            <a:r>
              <a:rPr lang="en-US" dirty="0">
                <a:solidFill>
                  <a:schemeClr val="tx1"/>
                </a:solidFill>
                <a:latin typeface="Times New Roman" pitchFamily="18" charset="0"/>
                <a:cs typeface="Times New Roman" pitchFamily="18" charset="0"/>
              </a:rPr>
              <a:t> Markup Language):Used to design the structure and layout of the web pages.</a:t>
            </a:r>
          </a:p>
          <a:p>
            <a:r>
              <a:rPr lang="en-US" dirty="0">
                <a:solidFill>
                  <a:schemeClr val="tx1"/>
                </a:solidFill>
                <a:latin typeface="Times New Roman" pitchFamily="18" charset="0"/>
                <a:cs typeface="Times New Roman" pitchFamily="18" charset="0"/>
              </a:rPr>
              <a:t>CSS (Cascading Style Sheets):Used to style the web pages and make the interface attractive and user-friendly.</a:t>
            </a:r>
          </a:p>
          <a:p>
            <a:r>
              <a:rPr lang="en-US" dirty="0" err="1">
                <a:solidFill>
                  <a:schemeClr val="tx1"/>
                </a:solidFill>
                <a:latin typeface="Times New Roman" pitchFamily="18" charset="0"/>
                <a:cs typeface="Times New Roman" pitchFamily="18" charset="0"/>
              </a:rPr>
              <a:t>JavaScript:Used</a:t>
            </a:r>
            <a:r>
              <a:rPr lang="en-US" dirty="0">
                <a:solidFill>
                  <a:schemeClr val="tx1"/>
                </a:solidFill>
                <a:latin typeface="Times New Roman" pitchFamily="18" charset="0"/>
                <a:cs typeface="Times New Roman" pitchFamily="18" charset="0"/>
              </a:rPr>
              <a:t> to add interactivity and handle client-side logic for dynamic content.</a:t>
            </a:r>
          </a:p>
          <a:p>
            <a:r>
              <a:rPr lang="en-US" dirty="0">
                <a:solidFill>
                  <a:schemeClr val="tx1"/>
                </a:solidFill>
                <a:latin typeface="Times New Roman" pitchFamily="18" charset="0"/>
                <a:cs typeface="Times New Roman" pitchFamily="18" charset="0"/>
              </a:rPr>
              <a:t>Firebase (Backend Service):Used for authentication, database management, and web hosting</a:t>
            </a:r>
            <a:r>
              <a:rPr lang="en-US" dirty="0">
                <a:solidFill>
                  <a:schemeClr val="tx1"/>
                </a:solidFill>
              </a:rPr>
              <a:t>.</a:t>
            </a:r>
          </a:p>
        </p:txBody>
      </p:sp>
    </p:spTree>
    <p:extLst>
      <p:ext uri="{BB962C8B-B14F-4D97-AF65-F5344CB8AC3E}">
        <p14:creationId xmlns:p14="http://schemas.microsoft.com/office/powerpoint/2010/main" val="1351418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665546" cy="1320800"/>
          </a:xfrm>
          <a:ln>
            <a:solidFill>
              <a:schemeClr val="accent2"/>
            </a:solidFill>
          </a:ln>
        </p:spPr>
        <p:txBody>
          <a:bodyPr/>
          <a:lstStyle/>
          <a:p>
            <a:pPr>
              <a:lnSpc>
                <a:spcPct val="200000"/>
              </a:lnSpc>
            </a:pPr>
            <a:r>
              <a:rPr lang="en-US" dirty="0"/>
              <a:t> </a:t>
            </a:r>
            <a:r>
              <a:rPr lang="en-US" dirty="0">
                <a:latin typeface="Times New Roman" pitchFamily="18" charset="0"/>
                <a:cs typeface="Times New Roman" pitchFamily="18" charset="0"/>
              </a:rPr>
              <a:t>METHODOLOGY</a:t>
            </a:r>
          </a:p>
        </p:txBody>
      </p:sp>
      <p:sp>
        <p:nvSpPr>
          <p:cNvPr id="3" name="Content Placeholder 2"/>
          <p:cNvSpPr>
            <a:spLocks noGrp="1"/>
          </p:cNvSpPr>
          <p:nvPr>
            <p:ph idx="1"/>
          </p:nvPr>
        </p:nvSpPr>
        <p:spPr>
          <a:xfrm>
            <a:off x="1001991" y="2218595"/>
            <a:ext cx="8737999" cy="3599316"/>
          </a:xfrm>
        </p:spPr>
        <p:txBody>
          <a:bodyPr>
            <a:normAutofit/>
          </a:bodyPr>
          <a:lstStyle/>
          <a:p>
            <a:pPr lvl="0" defTabSz="914400" fontAlgn="base">
              <a:spcBef>
                <a:spcPct val="0"/>
              </a:spcBef>
              <a:spcAft>
                <a:spcPct val="0"/>
              </a:spcAft>
              <a:buSzPct val="90000"/>
              <a:buFont typeface="Times New Roman" panose="02020603050405020304" pitchFamily="18" charset="0"/>
              <a:buChar char="►"/>
            </a:pPr>
            <a:endParaRPr lang="en-US" b="1" dirty="0">
              <a:solidFill>
                <a:schemeClr val="tx1"/>
              </a:solidFill>
              <a:latin typeface="Times New Roman" pitchFamily="18" charset="0"/>
              <a:cs typeface="Times New Roman" pitchFamily="18" charset="0"/>
            </a:endParaRPr>
          </a:p>
          <a:p>
            <a:pPr lvl="0" defTabSz="914400" fontAlgn="base">
              <a:spcBef>
                <a:spcPct val="0"/>
              </a:spcBef>
              <a:spcAft>
                <a:spcPct val="0"/>
              </a:spcAft>
              <a:buSzPct val="90000"/>
              <a:buFont typeface="Times New Roman" panose="02020603050405020304" pitchFamily="18" charset="0"/>
              <a:buChar char="►"/>
            </a:pPr>
            <a:r>
              <a:rPr lang="en-US" b="1" dirty="0">
                <a:solidFill>
                  <a:schemeClr val="tx1"/>
                </a:solidFill>
                <a:latin typeface="Times New Roman" pitchFamily="18" charset="0"/>
                <a:cs typeface="Times New Roman" pitchFamily="18" charset="0"/>
              </a:rPr>
              <a:t>Requirement Analysis:</a:t>
            </a:r>
            <a:r>
              <a:rPr lang="en-US" dirty="0">
                <a:solidFill>
                  <a:schemeClr val="tx1"/>
                </a:solidFill>
                <a:latin typeface="Times New Roman" pitchFamily="18" charset="0"/>
                <a:cs typeface="Times New Roman" pitchFamily="18" charset="0"/>
              </a:rPr>
              <a:t> Identify user needs and system goals.</a:t>
            </a:r>
          </a:p>
          <a:p>
            <a:pPr marL="0" lvl="0" indent="0" defTabSz="914400" fontAlgn="base">
              <a:spcBef>
                <a:spcPct val="0"/>
              </a:spcBef>
              <a:spcAft>
                <a:spcPct val="0"/>
              </a:spcAft>
              <a:buSzPct val="90000"/>
              <a:buNone/>
            </a:pPr>
            <a:endParaRPr lang="en-US" dirty="0">
              <a:solidFill>
                <a:schemeClr val="tx1"/>
              </a:solidFill>
              <a:latin typeface="Times New Roman" pitchFamily="18" charset="0"/>
              <a:cs typeface="Times New Roman" pitchFamily="18" charset="0"/>
            </a:endParaRPr>
          </a:p>
          <a:p>
            <a:pPr defTabSz="914400" fontAlgn="base">
              <a:spcBef>
                <a:spcPct val="0"/>
              </a:spcBef>
              <a:spcAft>
                <a:spcPct val="0"/>
              </a:spcAft>
              <a:buSzPct val="90000"/>
              <a:buFont typeface="Times New Roman" panose="02020603050405020304" pitchFamily="18" charset="0"/>
              <a:buChar char="►"/>
            </a:pPr>
            <a:r>
              <a:rPr lang="en-US" b="1" dirty="0">
                <a:solidFill>
                  <a:schemeClr val="tx1"/>
                </a:solidFill>
                <a:latin typeface="Times New Roman" pitchFamily="18" charset="0"/>
                <a:cs typeface="Times New Roman" pitchFamily="18" charset="0"/>
              </a:rPr>
              <a:t>Design:</a:t>
            </a:r>
            <a:r>
              <a:rPr lang="en-US" dirty="0">
                <a:solidFill>
                  <a:schemeClr val="tx1"/>
                </a:solidFill>
                <a:latin typeface="Times New Roman" pitchFamily="18" charset="0"/>
                <a:cs typeface="Times New Roman" pitchFamily="18" charset="0"/>
              </a:rPr>
              <a:t> Create wireframes and UI mockups.</a:t>
            </a:r>
          </a:p>
          <a:p>
            <a:pPr marL="0" lvl="0" indent="0" defTabSz="914400" fontAlgn="base">
              <a:spcBef>
                <a:spcPct val="0"/>
              </a:spcBef>
              <a:spcAft>
                <a:spcPct val="0"/>
              </a:spcAft>
              <a:buSzPct val="90000"/>
              <a:buNone/>
            </a:pPr>
            <a:endParaRPr lang="en-US" dirty="0">
              <a:solidFill>
                <a:schemeClr val="tx1"/>
              </a:solidFill>
              <a:latin typeface="Times New Roman" pitchFamily="18" charset="0"/>
              <a:cs typeface="Times New Roman" pitchFamily="18" charset="0"/>
            </a:endParaRPr>
          </a:p>
          <a:p>
            <a:pPr lvl="0" defTabSz="914400" fontAlgn="base">
              <a:spcBef>
                <a:spcPct val="0"/>
              </a:spcBef>
              <a:spcAft>
                <a:spcPct val="0"/>
              </a:spcAft>
              <a:buSzPct val="90000"/>
              <a:buFont typeface="Times New Roman" panose="02020603050405020304" pitchFamily="18" charset="0"/>
              <a:buChar char="►"/>
            </a:pPr>
            <a:r>
              <a:rPr lang="en-US" b="1" dirty="0">
                <a:solidFill>
                  <a:schemeClr val="tx1"/>
                </a:solidFill>
                <a:latin typeface="Times New Roman" pitchFamily="18" charset="0"/>
                <a:cs typeface="Times New Roman" pitchFamily="18" charset="0"/>
              </a:rPr>
              <a:t>Development:</a:t>
            </a:r>
            <a:r>
              <a:rPr lang="en-US" dirty="0">
                <a:solidFill>
                  <a:schemeClr val="tx1"/>
                </a:solidFill>
                <a:latin typeface="Times New Roman" pitchFamily="18" charset="0"/>
                <a:cs typeface="Times New Roman" pitchFamily="18" charset="0"/>
              </a:rPr>
              <a:t> Code using HTML, CSS, and JavaScript. </a:t>
            </a:r>
          </a:p>
          <a:p>
            <a:pPr lvl="0" defTabSz="914400" fontAlgn="base">
              <a:spcBef>
                <a:spcPct val="0"/>
              </a:spcBef>
              <a:spcAft>
                <a:spcPct val="0"/>
              </a:spcAft>
              <a:buSzPct val="90000"/>
              <a:buFont typeface="Times New Roman" panose="02020603050405020304" pitchFamily="18" charset="0"/>
              <a:buChar char="►"/>
            </a:pPr>
            <a:endParaRPr lang="en-US" dirty="0">
              <a:solidFill>
                <a:schemeClr val="tx1"/>
              </a:solidFill>
              <a:latin typeface="Times New Roman" pitchFamily="18" charset="0"/>
              <a:cs typeface="Times New Roman" pitchFamily="18" charset="0"/>
            </a:endParaRPr>
          </a:p>
          <a:p>
            <a:pPr defTabSz="914400" fontAlgn="base">
              <a:spcBef>
                <a:spcPct val="0"/>
              </a:spcBef>
              <a:spcAft>
                <a:spcPct val="0"/>
              </a:spcAft>
              <a:buSzPct val="90000"/>
              <a:buFont typeface="Times New Roman" panose="02020603050405020304" pitchFamily="18" charset="0"/>
              <a:buChar char="►"/>
            </a:pPr>
            <a:r>
              <a:rPr lang="en-US" b="1" dirty="0">
                <a:solidFill>
                  <a:schemeClr val="tx1"/>
                </a:solidFill>
                <a:latin typeface="Times New Roman" pitchFamily="18" charset="0"/>
                <a:cs typeface="Times New Roman" pitchFamily="18" charset="0"/>
              </a:rPr>
              <a:t>Testing:</a:t>
            </a:r>
            <a:r>
              <a:rPr lang="en-US" dirty="0">
                <a:solidFill>
                  <a:schemeClr val="tx1"/>
                </a:solidFill>
                <a:latin typeface="Times New Roman" pitchFamily="18" charset="0"/>
                <a:cs typeface="Times New Roman" pitchFamily="18" charset="0"/>
              </a:rPr>
              <a:t> Validate functionality and fix bugs.  </a:t>
            </a:r>
          </a:p>
          <a:p>
            <a:pPr defTabSz="914400" fontAlgn="base">
              <a:spcBef>
                <a:spcPct val="0"/>
              </a:spcBef>
              <a:spcAft>
                <a:spcPct val="0"/>
              </a:spcAft>
              <a:buSzPct val="90000"/>
              <a:buFont typeface="Times New Roman" panose="02020603050405020304" pitchFamily="18" charset="0"/>
              <a:buChar char="►"/>
            </a:pPr>
            <a:endParaRPr lang="en-US" dirty="0">
              <a:solidFill>
                <a:schemeClr val="tx1"/>
              </a:solidFill>
              <a:latin typeface="Times New Roman" pitchFamily="18" charset="0"/>
              <a:cs typeface="Times New Roman" pitchFamily="18" charset="0"/>
            </a:endParaRPr>
          </a:p>
          <a:p>
            <a:pPr defTabSz="914400" eaLnBrk="0" fontAlgn="base" hangingPunct="0">
              <a:spcBef>
                <a:spcPct val="0"/>
              </a:spcBef>
              <a:spcAft>
                <a:spcPct val="0"/>
              </a:spcAft>
              <a:buSzPct val="90000"/>
              <a:buFont typeface="Times New Roman" panose="02020603050405020304" pitchFamily="18" charset="0"/>
              <a:buChar char="►"/>
            </a:pPr>
            <a:r>
              <a:rPr lang="en-US" b="1" dirty="0">
                <a:solidFill>
                  <a:schemeClr val="tx1"/>
                </a:solidFill>
                <a:latin typeface="Times New Roman" pitchFamily="18" charset="0"/>
                <a:cs typeface="Times New Roman" pitchFamily="18" charset="0"/>
              </a:rPr>
              <a:t> Deployment:</a:t>
            </a:r>
            <a:r>
              <a:rPr lang="en-US" dirty="0">
                <a:solidFill>
                  <a:schemeClr val="tx1"/>
                </a:solidFill>
                <a:latin typeface="Times New Roman" pitchFamily="18" charset="0"/>
                <a:cs typeface="Times New Roman" pitchFamily="18" charset="0"/>
              </a:rPr>
              <a:t> Host the application online.</a:t>
            </a:r>
          </a:p>
          <a:p>
            <a:pPr marL="0" lvl="0" indent="0" defTabSz="914400" eaLnBrk="0" fontAlgn="base" hangingPunct="0">
              <a:spcBef>
                <a:spcPct val="0"/>
              </a:spcBef>
              <a:spcAft>
                <a:spcPct val="0"/>
              </a:spcAft>
              <a:buClrTx/>
              <a:buSzTx/>
              <a:buNone/>
            </a:pPr>
            <a:endParaRPr lang="en-US" dirty="0">
              <a:solidFill>
                <a:schemeClr val="tx1"/>
              </a:solidFill>
              <a:latin typeface="Times New Roman" pitchFamily="18" charset="0"/>
              <a:cs typeface="Times New Roman" pitchFamily="18" charset="0"/>
            </a:endParaRPr>
          </a:p>
          <a:p>
            <a:pPr defTabSz="914400" eaLnBrk="0" fontAlgn="base" hangingPunct="0">
              <a:spcBef>
                <a:spcPct val="0"/>
              </a:spcBef>
              <a:spcAft>
                <a:spcPct val="0"/>
              </a:spcAft>
              <a:buSzPct val="90000"/>
              <a:buFont typeface="Times New Roman" panose="02020603050405020304" pitchFamily="18" charset="0"/>
              <a:buChar char="►"/>
            </a:pPr>
            <a:r>
              <a:rPr lang="en-US" dirty="0">
                <a:solidFill>
                  <a:schemeClr val="tx1"/>
                </a:solidFill>
                <a:latin typeface="Times New Roman" pitchFamily="18" charset="0"/>
                <a:cs typeface="Times New Roman" pitchFamily="18" charset="0"/>
              </a:rPr>
              <a:t> </a:t>
            </a:r>
            <a:r>
              <a:rPr lang="en-US" b="1" dirty="0">
                <a:solidFill>
                  <a:schemeClr val="tx1"/>
                </a:solidFill>
                <a:latin typeface="Times New Roman" pitchFamily="18" charset="0"/>
                <a:cs typeface="Times New Roman" pitchFamily="18" charset="0"/>
              </a:rPr>
              <a:t>Feedback &amp; Iteration:</a:t>
            </a:r>
            <a:r>
              <a:rPr lang="en-US" dirty="0">
                <a:solidFill>
                  <a:schemeClr val="tx1"/>
                </a:solidFill>
                <a:latin typeface="Times New Roman" pitchFamily="18" charset="0"/>
                <a:cs typeface="Times New Roman" pitchFamily="18" charset="0"/>
              </a:rPr>
              <a:t> Improve based on user input. </a:t>
            </a:r>
          </a:p>
          <a:p>
            <a:pPr lvl="0" defTabSz="914400" eaLnBrk="0" fontAlgn="base" hangingPunct="0">
              <a:spcBef>
                <a:spcPct val="0"/>
              </a:spcBef>
              <a:spcAft>
                <a:spcPct val="0"/>
              </a:spcAft>
              <a:buSzPct val="90000"/>
              <a:buFont typeface="Times New Roman" panose="02020603050405020304" pitchFamily="18" charset="0"/>
              <a:buChar char="►"/>
            </a:pPr>
            <a:endParaRPr lang="en-US" dirty="0">
              <a:solidFill>
                <a:schemeClr val="tx1"/>
              </a:solidFill>
              <a:latin typeface="Times New Roman" pitchFamily="18" charset="0"/>
              <a:cs typeface="Times New Roman" pitchFamily="18" charset="0"/>
            </a:endParaRPr>
          </a:p>
          <a:p>
            <a:pPr marL="0" lvl="0" indent="0" defTabSz="914400" eaLnBrk="0" fontAlgn="base" hangingPunct="0">
              <a:spcBef>
                <a:spcPct val="0"/>
              </a:spcBef>
              <a:spcAft>
                <a:spcPct val="0"/>
              </a:spcAft>
              <a:buClrTx/>
              <a:buSzTx/>
              <a:buNone/>
            </a:pPr>
            <a:endParaRPr lang="en-US" dirty="0">
              <a:solidFill>
                <a:schemeClr val="tx1"/>
              </a:solidFill>
              <a:latin typeface="Times New Roman" pitchFamily="18" charset="0"/>
              <a:cs typeface="Times New Roman" pitchFamily="18" charset="0"/>
            </a:endParaRPr>
          </a:p>
          <a:p>
            <a:pPr marL="0" lvl="0" indent="0" defTabSz="914400" eaLnBrk="0" fontAlgn="base" hangingPunct="0">
              <a:spcBef>
                <a:spcPct val="0"/>
              </a:spcBef>
              <a:spcAft>
                <a:spcPct val="0"/>
              </a:spcAft>
              <a:buClrTx/>
              <a:buSzTx/>
              <a:buNone/>
            </a:pPr>
            <a:endParaRPr lang="en-US" dirty="0">
              <a:solidFill>
                <a:schemeClr val="tx1"/>
              </a:solidFill>
              <a:latin typeface="Times New Roman" pitchFamily="18" charset="0"/>
              <a:cs typeface="Times New Roman" pitchFamily="18" charset="0"/>
            </a:endParaRPr>
          </a:p>
          <a:p>
            <a:pPr algn="just"/>
            <a:endParaRPr lang="en-US" dirty="0"/>
          </a:p>
        </p:txBody>
      </p:sp>
    </p:spTree>
    <p:extLst>
      <p:ext uri="{BB962C8B-B14F-4D97-AF65-F5344CB8AC3E}">
        <p14:creationId xmlns:p14="http://schemas.microsoft.com/office/powerpoint/2010/main" val="2969043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523306" cy="1320800"/>
          </a:xfrm>
          <a:ln>
            <a:solidFill>
              <a:schemeClr val="accent2"/>
            </a:solidFill>
          </a:ln>
        </p:spPr>
        <p:txBody>
          <a:bodyPr/>
          <a:lstStyle/>
          <a:p>
            <a:pPr>
              <a:lnSpc>
                <a:spcPct val="200000"/>
              </a:lnSpc>
            </a:pPr>
            <a:r>
              <a:rPr lang="en-US" dirty="0"/>
              <a:t> </a:t>
            </a:r>
            <a:r>
              <a:rPr lang="en-US" dirty="0">
                <a:latin typeface="Times New Roman" pitchFamily="18" charset="0"/>
                <a:cs typeface="Times New Roman" pitchFamily="18" charset="0"/>
              </a:rPr>
              <a:t>IMPLEMENTATION</a:t>
            </a:r>
          </a:p>
        </p:txBody>
      </p:sp>
      <p:sp>
        <p:nvSpPr>
          <p:cNvPr id="3" name="Content Placeholder 2"/>
          <p:cNvSpPr>
            <a:spLocks noGrp="1"/>
          </p:cNvSpPr>
          <p:nvPr>
            <p:ph idx="1"/>
          </p:nvPr>
        </p:nvSpPr>
        <p:spPr>
          <a:xfrm>
            <a:off x="1084229" y="2430613"/>
            <a:ext cx="8575439" cy="3107545"/>
          </a:xfrm>
        </p:spPr>
        <p:txBody>
          <a:bodyPr>
            <a:normAutofit/>
          </a:bodyPr>
          <a:lstStyle/>
          <a:p>
            <a:pPr lvl="0" algn="just" defTabSz="914400" fontAlgn="base">
              <a:spcBef>
                <a:spcPct val="0"/>
              </a:spcBef>
              <a:spcAft>
                <a:spcPct val="0"/>
              </a:spcAft>
              <a:buSzPct val="90000"/>
              <a:buFont typeface="Times New Roman" panose="02020603050405020304" pitchFamily="18" charset="0"/>
              <a:buChar char="►"/>
            </a:pPr>
            <a:r>
              <a:rPr lang="en-US" dirty="0">
                <a:solidFill>
                  <a:schemeClr val="tx1"/>
                </a:solidFill>
                <a:latin typeface="Times New Roman" pitchFamily="18" charset="0"/>
                <a:cs typeface="Times New Roman" pitchFamily="18" charset="0"/>
              </a:rPr>
              <a:t> Developed using modular JavaScript functions</a:t>
            </a:r>
          </a:p>
          <a:p>
            <a:pPr lvl="0" algn="just" defTabSz="914400" fontAlgn="base">
              <a:spcBef>
                <a:spcPct val="0"/>
              </a:spcBef>
              <a:spcAft>
                <a:spcPct val="0"/>
              </a:spcAft>
              <a:buSzPct val="90000"/>
              <a:buFont typeface="Times New Roman" panose="02020603050405020304" pitchFamily="18" charset="0"/>
              <a:buChar char="►"/>
            </a:pPr>
            <a:endParaRPr lang="en-US" dirty="0">
              <a:solidFill>
                <a:schemeClr val="tx1"/>
              </a:solidFill>
              <a:latin typeface="Times New Roman" pitchFamily="18" charset="0"/>
              <a:cs typeface="Times New Roman" pitchFamily="18" charset="0"/>
            </a:endParaRPr>
          </a:p>
          <a:p>
            <a:pPr lvl="0" algn="just" defTabSz="914400" fontAlgn="base">
              <a:spcBef>
                <a:spcPct val="0"/>
              </a:spcBef>
              <a:spcAft>
                <a:spcPct val="0"/>
              </a:spcAft>
              <a:buSzPct val="90000"/>
              <a:buFont typeface="Times New Roman" panose="02020603050405020304" pitchFamily="18" charset="0"/>
              <a:buChar char="►"/>
            </a:pPr>
            <a:r>
              <a:rPr lang="en-US" dirty="0">
                <a:solidFill>
                  <a:schemeClr val="tx1"/>
                </a:solidFill>
                <a:latin typeface="Times New Roman" pitchFamily="18" charset="0"/>
                <a:cs typeface="Times New Roman" pitchFamily="18" charset="0"/>
              </a:rPr>
              <a:t>Responsive design with CSS Flexbox/Grid</a:t>
            </a:r>
          </a:p>
          <a:p>
            <a:pPr lvl="0" algn="just" defTabSz="914400" fontAlgn="base">
              <a:spcBef>
                <a:spcPct val="0"/>
              </a:spcBef>
              <a:spcAft>
                <a:spcPct val="0"/>
              </a:spcAft>
              <a:buSzPct val="90000"/>
              <a:buFont typeface="Times New Roman" panose="02020603050405020304" pitchFamily="18" charset="0"/>
              <a:buChar char="►"/>
            </a:pPr>
            <a:endParaRPr lang="en-US" dirty="0">
              <a:solidFill>
                <a:schemeClr val="tx1"/>
              </a:solidFill>
              <a:latin typeface="Times New Roman" pitchFamily="18" charset="0"/>
              <a:cs typeface="Times New Roman" pitchFamily="18" charset="0"/>
            </a:endParaRPr>
          </a:p>
          <a:p>
            <a:pPr lvl="0" algn="just" defTabSz="914400" fontAlgn="base">
              <a:spcBef>
                <a:spcPct val="0"/>
              </a:spcBef>
              <a:spcAft>
                <a:spcPct val="0"/>
              </a:spcAft>
              <a:buSzPct val="90000"/>
              <a:buFont typeface="Times New Roman" panose="02020603050405020304" pitchFamily="18" charset="0"/>
              <a:buChar char="►"/>
            </a:pPr>
            <a:r>
              <a:rPr lang="en-US" dirty="0">
                <a:solidFill>
                  <a:schemeClr val="tx1"/>
                </a:solidFill>
                <a:latin typeface="Times New Roman" pitchFamily="18" charset="0"/>
                <a:cs typeface="Times New Roman" pitchFamily="18" charset="0"/>
              </a:rPr>
              <a:t>Medicine data stored in JSON or Firebase</a:t>
            </a:r>
          </a:p>
          <a:p>
            <a:pPr lvl="0" algn="just" defTabSz="914400" fontAlgn="base">
              <a:spcBef>
                <a:spcPct val="0"/>
              </a:spcBef>
              <a:spcAft>
                <a:spcPct val="0"/>
              </a:spcAft>
              <a:buSzPct val="90000"/>
              <a:buFont typeface="Times New Roman" panose="02020603050405020304" pitchFamily="18" charset="0"/>
              <a:buChar char="►"/>
            </a:pPr>
            <a:endParaRPr lang="en-US" dirty="0">
              <a:solidFill>
                <a:schemeClr val="tx1"/>
              </a:solidFill>
              <a:latin typeface="Times New Roman" pitchFamily="18" charset="0"/>
              <a:cs typeface="Times New Roman" pitchFamily="18" charset="0"/>
            </a:endParaRPr>
          </a:p>
          <a:p>
            <a:pPr lvl="0" algn="just" defTabSz="914400" fontAlgn="base">
              <a:spcBef>
                <a:spcPct val="0"/>
              </a:spcBef>
              <a:spcAft>
                <a:spcPct val="0"/>
              </a:spcAft>
              <a:buSzPct val="90000"/>
              <a:buFont typeface="Times New Roman" panose="02020603050405020304" pitchFamily="18" charset="0"/>
              <a:buChar char="►"/>
            </a:pPr>
            <a:r>
              <a:rPr lang="en-US" dirty="0">
                <a:solidFill>
                  <a:schemeClr val="tx1"/>
                </a:solidFill>
                <a:latin typeface="Times New Roman" pitchFamily="18" charset="0"/>
                <a:cs typeface="Times New Roman" pitchFamily="18" charset="0"/>
              </a:rPr>
              <a:t>Cart and order logic handled via JavaScript</a:t>
            </a:r>
          </a:p>
          <a:p>
            <a:pPr lvl="0" algn="just" defTabSz="914400" fontAlgn="base">
              <a:spcBef>
                <a:spcPct val="0"/>
              </a:spcBef>
              <a:spcAft>
                <a:spcPct val="0"/>
              </a:spcAft>
              <a:buSzPct val="90000"/>
              <a:buFont typeface="Times New Roman" panose="02020603050405020304" pitchFamily="18" charset="0"/>
              <a:buChar char="►"/>
            </a:pPr>
            <a:endParaRPr lang="en-US" dirty="0">
              <a:solidFill>
                <a:schemeClr val="tx1"/>
              </a:solidFill>
              <a:latin typeface="Times New Roman" pitchFamily="18" charset="0"/>
              <a:cs typeface="Times New Roman" pitchFamily="18" charset="0"/>
            </a:endParaRPr>
          </a:p>
          <a:p>
            <a:pPr algn="just" defTabSz="914400" fontAlgn="base">
              <a:spcBef>
                <a:spcPct val="0"/>
              </a:spcBef>
              <a:spcAft>
                <a:spcPct val="0"/>
              </a:spcAft>
              <a:buSzPct val="90000"/>
              <a:buFont typeface="Times New Roman" panose="02020603050405020304" pitchFamily="18" charset="0"/>
              <a:buChar char="►"/>
            </a:pPr>
            <a:r>
              <a:rPr lang="en-US" dirty="0">
                <a:solidFill>
                  <a:schemeClr val="tx1"/>
                </a:solidFill>
                <a:latin typeface="Times New Roman" pitchFamily="18" charset="0"/>
                <a:cs typeface="Times New Roman" pitchFamily="18" charset="0"/>
              </a:rPr>
              <a:t>Alerts and confirmations for user actions</a:t>
            </a:r>
          </a:p>
          <a:p>
            <a:pPr marL="0" lvl="0" indent="0" algn="just" defTabSz="914400" fontAlgn="base">
              <a:spcBef>
                <a:spcPct val="0"/>
              </a:spcBef>
              <a:spcAft>
                <a:spcPct val="0"/>
              </a:spcAft>
              <a:buClrTx/>
              <a:buSzTx/>
              <a:buNone/>
            </a:pPr>
            <a:endParaRPr lang="en-US" dirty="0">
              <a:solidFill>
                <a:schemeClr val="tx1"/>
              </a:solidFill>
              <a:latin typeface="Arial" charset="0"/>
              <a:cs typeface="Arial" charset="0"/>
            </a:endParaRPr>
          </a:p>
          <a:p>
            <a:pPr algn="just"/>
            <a:endParaRPr lang="en-US" dirty="0"/>
          </a:p>
        </p:txBody>
      </p:sp>
    </p:spTree>
    <p:extLst>
      <p:ext uri="{BB962C8B-B14F-4D97-AF65-F5344CB8AC3E}">
        <p14:creationId xmlns:p14="http://schemas.microsoft.com/office/powerpoint/2010/main" val="3150355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635066" cy="1320800"/>
          </a:xfrm>
          <a:ln>
            <a:solidFill>
              <a:schemeClr val="accent2"/>
            </a:solidFill>
          </a:ln>
        </p:spPr>
        <p:txBody>
          <a:bodyPr/>
          <a:lstStyle/>
          <a:p>
            <a:pPr>
              <a:lnSpc>
                <a:spcPct val="200000"/>
              </a:lnSpc>
            </a:pPr>
            <a:r>
              <a:rPr lang="en-US" dirty="0"/>
              <a:t> </a:t>
            </a:r>
            <a:r>
              <a:rPr lang="en-US" dirty="0">
                <a:latin typeface="Times New Roman" pitchFamily="18" charset="0"/>
                <a:cs typeface="Times New Roman" pitchFamily="18" charset="0"/>
              </a:rPr>
              <a:t>RESULT ANALYSIS</a:t>
            </a:r>
          </a:p>
        </p:txBody>
      </p:sp>
      <p:pic>
        <p:nvPicPr>
          <p:cNvPr id="8" name="Content Placeholder 7" descr="s.jpg"/>
          <p:cNvPicPr>
            <a:picLocks noGrp="1" noChangeAspect="1"/>
          </p:cNvPicPr>
          <p:nvPr>
            <p:ph idx="1"/>
          </p:nvPr>
        </p:nvPicPr>
        <p:blipFill>
          <a:blip r:embed="rId2"/>
          <a:stretch>
            <a:fillRect/>
          </a:stretch>
        </p:blipFill>
        <p:spPr>
          <a:xfrm>
            <a:off x="3642350" y="2160588"/>
            <a:ext cx="2667338" cy="3881437"/>
          </a:xfrm>
        </p:spPr>
      </p:pic>
      <p:sp>
        <p:nvSpPr>
          <p:cNvPr id="10242" name="AutoShape 2" descr="blob:https://web.whatsapp.com/4d9b7128-10d1-4497-ae58-9afd2d892a1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7507657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6" name="Content Placeholder 5" descr="ik.jpg"/>
          <p:cNvPicPr>
            <a:picLocks noGrp="1" noChangeAspect="1"/>
          </p:cNvPicPr>
          <p:nvPr>
            <p:ph idx="1"/>
          </p:nvPr>
        </p:nvPicPr>
        <p:blipFill>
          <a:blip r:embed="rId2"/>
          <a:stretch>
            <a:fillRect/>
          </a:stretch>
        </p:blipFill>
        <p:spPr>
          <a:xfrm>
            <a:off x="954037" y="2160588"/>
            <a:ext cx="8043964" cy="3881437"/>
          </a:xfrm>
        </p:spPr>
      </p:pic>
    </p:spTree>
    <p:extLst>
      <p:ext uri="{BB962C8B-B14F-4D97-AF65-F5344CB8AC3E}">
        <p14:creationId xmlns:p14="http://schemas.microsoft.com/office/powerpoint/2010/main" val="3446500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5" name="Content Placeholder 4" descr="o.jpg"/>
          <p:cNvPicPr>
            <a:picLocks noGrp="1" noChangeAspect="1"/>
          </p:cNvPicPr>
          <p:nvPr>
            <p:ph idx="1"/>
          </p:nvPr>
        </p:nvPicPr>
        <p:blipFill>
          <a:blip r:embed="rId2"/>
          <a:stretch>
            <a:fillRect/>
          </a:stretch>
        </p:blipFill>
        <p:spPr>
          <a:xfrm>
            <a:off x="1146969" y="3220244"/>
            <a:ext cx="7658100" cy="1762125"/>
          </a:xfrm>
        </p:spPr>
      </p:pic>
    </p:spTree>
    <p:extLst>
      <p:ext uri="{BB962C8B-B14F-4D97-AF65-F5344CB8AC3E}">
        <p14:creationId xmlns:p14="http://schemas.microsoft.com/office/powerpoint/2010/main" val="2580941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6" name="Content Placeholder 5" descr="hgj.jpg"/>
          <p:cNvPicPr>
            <a:picLocks noGrp="1" noChangeAspect="1"/>
          </p:cNvPicPr>
          <p:nvPr>
            <p:ph idx="1"/>
          </p:nvPr>
        </p:nvPicPr>
        <p:blipFill>
          <a:blip r:embed="rId2"/>
          <a:stretch>
            <a:fillRect/>
          </a:stretch>
        </p:blipFill>
        <p:spPr>
          <a:xfrm>
            <a:off x="1640141" y="1012167"/>
            <a:ext cx="6513342" cy="4671210"/>
          </a:xfrm>
        </p:spPr>
      </p:pic>
    </p:spTree>
    <p:extLst>
      <p:ext uri="{BB962C8B-B14F-4D97-AF65-F5344CB8AC3E}">
        <p14:creationId xmlns:p14="http://schemas.microsoft.com/office/powerpoint/2010/main" val="2195328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8" name="Content Placeholder 7" descr="hjkl.jpg"/>
          <p:cNvPicPr>
            <a:picLocks noGrp="1" noChangeAspect="1"/>
          </p:cNvPicPr>
          <p:nvPr>
            <p:ph idx="1"/>
          </p:nvPr>
        </p:nvPicPr>
        <p:blipFill>
          <a:blip r:embed="rId2"/>
          <a:stretch>
            <a:fillRect/>
          </a:stretch>
        </p:blipFill>
        <p:spPr>
          <a:xfrm>
            <a:off x="3018631" y="2924969"/>
            <a:ext cx="3914775" cy="2352675"/>
          </a:xfrm>
        </p:spPr>
      </p:pic>
    </p:spTree>
    <p:extLst>
      <p:ext uri="{BB962C8B-B14F-4D97-AF65-F5344CB8AC3E}">
        <p14:creationId xmlns:p14="http://schemas.microsoft.com/office/powerpoint/2010/main" val="1139588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442026" cy="1320800"/>
          </a:xfrm>
          <a:ln>
            <a:solidFill>
              <a:schemeClr val="accent2"/>
            </a:solidFill>
          </a:ln>
        </p:spPr>
        <p:txBody>
          <a:bodyPr/>
          <a:lstStyle/>
          <a:p>
            <a:pPr>
              <a:lnSpc>
                <a:spcPct val="200000"/>
              </a:lnSpc>
            </a:pPr>
            <a:r>
              <a:rPr lang="en-US" dirty="0"/>
              <a:t> </a:t>
            </a:r>
            <a:r>
              <a:rPr lang="en-US" dirty="0">
                <a:latin typeface="Times New Roman" pitchFamily="18" charset="0"/>
                <a:cs typeface="Times New Roman" pitchFamily="18" charset="0"/>
              </a:rPr>
              <a:t>CONCLUSION</a:t>
            </a:r>
          </a:p>
        </p:txBody>
      </p:sp>
      <p:sp>
        <p:nvSpPr>
          <p:cNvPr id="3" name="Content Placeholder 2"/>
          <p:cNvSpPr>
            <a:spLocks noGrp="1"/>
          </p:cNvSpPr>
          <p:nvPr>
            <p:ph idx="1"/>
          </p:nvPr>
        </p:nvSpPr>
        <p:spPr>
          <a:xfrm>
            <a:off x="903841" y="2377513"/>
            <a:ext cx="8900559" cy="3599316"/>
          </a:xfrm>
        </p:spPr>
        <p:txBody>
          <a:bodyPr>
            <a:normAutofit/>
          </a:bodyPr>
          <a:lstStyle/>
          <a:p>
            <a:pPr marL="0" indent="0" algn="just">
              <a:buNone/>
            </a:pPr>
            <a:r>
              <a:rPr lang="en-GB" dirty="0">
                <a:solidFill>
                  <a:schemeClr val="tx1"/>
                </a:solidFill>
                <a:latin typeface="Times New Roman" pitchFamily="18" charset="0"/>
                <a:cs typeface="Times New Roman" pitchFamily="18" charset="0"/>
              </a:rPr>
              <a:t>In conclusion, the medicine delivery system prototype offers a lightweight, accessible, and functional solution for ordering medicines online without relying on a database. By using only frontend technologies and Python with Flask, the system effectively simulates the medicine ordering process using temporary in-memory storage. Although it lacks data persistence, this approach is ideal for prototyping, educational purposes, and proof-of-concept presentations. The system highlights the core functionality of a medicine delivery platform and sets a foundation for future enhancements, such as integrating a database, user authentication, and real-time delivery tracking.</a:t>
            </a:r>
          </a:p>
          <a:p>
            <a:pPr marL="0" indent="0" algn="just">
              <a:buNone/>
            </a:pPr>
            <a:endParaRPr lang="en-US" dirty="0"/>
          </a:p>
        </p:txBody>
      </p:sp>
    </p:spTree>
    <p:extLst>
      <p:ext uri="{BB962C8B-B14F-4D97-AF65-F5344CB8AC3E}">
        <p14:creationId xmlns:p14="http://schemas.microsoft.com/office/powerpoint/2010/main" val="9255382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411546" cy="1320800"/>
          </a:xfrm>
          <a:ln>
            <a:solidFill>
              <a:schemeClr val="accent2"/>
            </a:solidFill>
          </a:ln>
        </p:spPr>
        <p:txBody>
          <a:bodyPr/>
          <a:lstStyle/>
          <a:p>
            <a:pPr>
              <a:lnSpc>
                <a:spcPct val="200000"/>
              </a:lnSpc>
            </a:pPr>
            <a:r>
              <a:rPr lang="en-US" dirty="0"/>
              <a:t> </a:t>
            </a:r>
            <a:r>
              <a:rPr lang="en-US" dirty="0">
                <a:latin typeface="Times New Roman" pitchFamily="18" charset="0"/>
                <a:cs typeface="Times New Roman" pitchFamily="18" charset="0"/>
              </a:rPr>
              <a:t>FUTURE SCOPE</a:t>
            </a:r>
          </a:p>
        </p:txBody>
      </p:sp>
      <p:sp>
        <p:nvSpPr>
          <p:cNvPr id="3" name="Content Placeholder 2"/>
          <p:cNvSpPr>
            <a:spLocks noGrp="1"/>
          </p:cNvSpPr>
          <p:nvPr>
            <p:ph idx="1"/>
          </p:nvPr>
        </p:nvSpPr>
        <p:spPr>
          <a:xfrm>
            <a:off x="839894" y="2211389"/>
            <a:ext cx="8596668" cy="3880773"/>
          </a:xfrm>
        </p:spPr>
        <p:txBody>
          <a:bodyPr>
            <a:normAutofit fontScale="92500" lnSpcReduction="20000"/>
          </a:bodyPr>
          <a:lstStyle/>
          <a:p>
            <a:r>
              <a:rPr lang="en-GB" dirty="0">
                <a:solidFill>
                  <a:schemeClr val="tx1"/>
                </a:solidFill>
                <a:latin typeface="Times New Roman" pitchFamily="18" charset="0"/>
                <a:cs typeface="Times New Roman" pitchFamily="18" charset="0"/>
              </a:rPr>
              <a:t>The system can evolve by integrating a backend database to store orders, user profiles, and medicine inventories, enabling dynamic content and better management.</a:t>
            </a:r>
          </a:p>
          <a:p>
            <a:r>
              <a:rPr lang="en-GB" dirty="0">
                <a:solidFill>
                  <a:schemeClr val="tx1"/>
                </a:solidFill>
                <a:latin typeface="Times New Roman" pitchFamily="18" charset="0"/>
                <a:cs typeface="Times New Roman" pitchFamily="18" charset="0"/>
              </a:rPr>
              <a:t>Adding payment gateway integration will allow users to pay online securely, enhancing convenience and trust.</a:t>
            </a:r>
          </a:p>
          <a:p>
            <a:r>
              <a:rPr lang="en-GB" dirty="0">
                <a:solidFill>
                  <a:schemeClr val="tx1"/>
                </a:solidFill>
                <a:latin typeface="Times New Roman" pitchFamily="18" charset="0"/>
                <a:cs typeface="Times New Roman" pitchFamily="18" charset="0"/>
              </a:rPr>
              <a:t>Implementing real-time order tracking features can improve user experience by providing updates on delivery status.</a:t>
            </a:r>
          </a:p>
          <a:p>
            <a:r>
              <a:rPr lang="en-GB" dirty="0">
                <a:solidFill>
                  <a:schemeClr val="tx1"/>
                </a:solidFill>
                <a:latin typeface="Times New Roman" pitchFamily="18" charset="0"/>
                <a:cs typeface="Times New Roman" pitchFamily="18" charset="0"/>
              </a:rPr>
              <a:t>Incorporating AI-based medicine recommendations could personalize user experience and improve health outcomes.</a:t>
            </a:r>
          </a:p>
          <a:p>
            <a:r>
              <a:rPr lang="en-GB" dirty="0">
                <a:solidFill>
                  <a:schemeClr val="tx1"/>
                </a:solidFill>
                <a:latin typeface="Times New Roman" pitchFamily="18" charset="0"/>
                <a:cs typeface="Times New Roman" pitchFamily="18" charset="0"/>
              </a:rPr>
              <a:t>Mobile app development alongside the web system would make the service more accessible and user-friendly on smart phones.</a:t>
            </a:r>
          </a:p>
          <a:p>
            <a:r>
              <a:rPr lang="en-GB" dirty="0">
                <a:solidFill>
                  <a:schemeClr val="tx1"/>
                </a:solidFill>
                <a:latin typeface="Times New Roman" pitchFamily="18" charset="0"/>
                <a:cs typeface="Times New Roman" pitchFamily="18" charset="0"/>
              </a:rPr>
              <a:t>Expanding to support multi-language interfaces will cater to a wider demographic, increasing accessibility.</a:t>
            </a:r>
          </a:p>
          <a:p>
            <a:r>
              <a:rPr lang="en-GB" dirty="0">
                <a:solidFill>
                  <a:schemeClr val="tx1"/>
                </a:solidFill>
                <a:latin typeface="Times New Roman" pitchFamily="18" charset="0"/>
                <a:cs typeface="Times New Roman" pitchFamily="18" charset="0"/>
              </a:rPr>
              <a:t>Adding automated notifications and reminders via SMS or email will improve medication adherence and refill rates.</a:t>
            </a:r>
          </a:p>
          <a:p>
            <a:pPr marL="0" indent="0" algn="just">
              <a:buNone/>
            </a:pPr>
            <a:endParaRPr lang="en-US" dirty="0"/>
          </a:p>
        </p:txBody>
      </p:sp>
    </p:spTree>
    <p:extLst>
      <p:ext uri="{BB962C8B-B14F-4D97-AF65-F5344CB8AC3E}">
        <p14:creationId xmlns:p14="http://schemas.microsoft.com/office/powerpoint/2010/main" val="4024019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2747" y="1713654"/>
            <a:ext cx="7099763" cy="1202266"/>
          </a:xfrm>
        </p:spPr>
        <p:txBody>
          <a:bodyPr>
            <a:normAutofit fontScale="90000"/>
          </a:bodyPr>
          <a:lstStyle/>
          <a:p>
            <a:pPr>
              <a:lnSpc>
                <a:spcPct val="300000"/>
              </a:lnSpc>
            </a:pPr>
            <a:r>
              <a:rPr lang="en-IN" dirty="0"/>
              <a:t>                      			                           </a:t>
            </a:r>
            <a:endParaRPr lang="en-US" dirty="0"/>
          </a:p>
        </p:txBody>
      </p:sp>
      <p:sp>
        <p:nvSpPr>
          <p:cNvPr id="4" name="Rectangle 1"/>
          <p:cNvSpPr>
            <a:spLocks noGrp="1" noChangeArrowheads="1"/>
          </p:cNvSpPr>
          <p:nvPr>
            <p:ph type="subTitle" idx="1"/>
          </p:nvPr>
        </p:nvSpPr>
        <p:spPr bwMode="auto">
          <a:xfrm>
            <a:off x="1522307" y="2431981"/>
            <a:ext cx="7362613" cy="3652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r>
              <a:rPr lang="en-GB" dirty="0" err="1">
                <a:solidFill>
                  <a:schemeClr val="tx1"/>
                </a:solidFill>
                <a:latin typeface="Times New Roman" pitchFamily="18" charset="0"/>
                <a:cs typeface="Times New Roman" pitchFamily="18" charset="0"/>
              </a:rPr>
              <a:t>MediPortal</a:t>
            </a:r>
            <a:r>
              <a:rPr lang="en-GB" dirty="0">
                <a:solidFill>
                  <a:schemeClr val="tx1"/>
                </a:solidFill>
                <a:latin typeface="Times New Roman" pitchFamily="18" charset="0"/>
                <a:cs typeface="Times New Roman" pitchFamily="18" charset="0"/>
              </a:rPr>
              <a:t> is a web-based application focused on medicine delivery and management.</a:t>
            </a:r>
          </a:p>
          <a:p>
            <a:pPr algn="l"/>
            <a:r>
              <a:rPr lang="en-GB" dirty="0">
                <a:solidFill>
                  <a:schemeClr val="tx1"/>
                </a:solidFill>
                <a:latin typeface="Times New Roman" pitchFamily="18" charset="0"/>
                <a:cs typeface="Times New Roman" pitchFamily="18" charset="0"/>
              </a:rPr>
              <a:t>The interface includes options for viewing medicines, managing delivery, and placing orders.</a:t>
            </a:r>
          </a:p>
          <a:p>
            <a:pPr algn="l"/>
            <a:r>
              <a:rPr lang="en-GB" dirty="0">
                <a:solidFill>
                  <a:schemeClr val="tx1"/>
                </a:solidFill>
                <a:latin typeface="Times New Roman" pitchFamily="18" charset="0"/>
                <a:cs typeface="Times New Roman" pitchFamily="18" charset="0"/>
              </a:rPr>
              <a:t>The design features a clean, simple layout with navigation menus on the left sidebar.</a:t>
            </a:r>
          </a:p>
          <a:p>
            <a:pPr algn="l"/>
            <a:r>
              <a:rPr lang="en-GB" dirty="0">
                <a:solidFill>
                  <a:schemeClr val="tx1"/>
                </a:solidFill>
                <a:latin typeface="Times New Roman" pitchFamily="18" charset="0"/>
                <a:cs typeface="Times New Roman" pitchFamily="18" charset="0"/>
              </a:rPr>
              <a:t>It includes functionalities like searching medicines, adding them to cart, and tracking orders.</a:t>
            </a:r>
          </a:p>
          <a:p>
            <a:pPr algn="l"/>
            <a:r>
              <a:rPr lang="en-GB" dirty="0">
                <a:solidFill>
                  <a:schemeClr val="tx1"/>
                </a:solidFill>
                <a:latin typeface="Times New Roman" pitchFamily="18" charset="0"/>
                <a:cs typeface="Times New Roman" pitchFamily="18" charset="0"/>
              </a:rPr>
              <a:t>The homepage or dashboard displays medicine categories and delivery status updates.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5" name="Rectangle 4"/>
          <p:cNvSpPr/>
          <p:nvPr/>
        </p:nvSpPr>
        <p:spPr>
          <a:xfrm>
            <a:off x="2458223" y="1475829"/>
            <a:ext cx="6583680" cy="369332"/>
          </a:xfrm>
          <a:prstGeom prst="rect">
            <a:avLst/>
          </a:prstGeom>
        </p:spPr>
        <p:txBody>
          <a:bodyPr wrap="square">
            <a:spAutoFit/>
          </a:bodyPr>
          <a:lstStyle/>
          <a:p>
            <a:r>
              <a:rPr lang="en-US" b="1" dirty="0">
                <a:latin typeface="Times New Roman" pitchFamily="18" charset="0"/>
                <a:cs typeface="Times New Roman" pitchFamily="18" charset="0"/>
              </a:rPr>
              <a:t>https://mediportal2-design.github.io/mediportal</a:t>
            </a:r>
            <a:r>
              <a:rPr lang="en-US" dirty="0">
                <a:latin typeface="Times New Roman" pitchFamily="18" charset="0"/>
                <a:cs typeface="Times New Roman" pitchFamily="18" charset="0"/>
              </a:rPr>
              <a:t>/</a:t>
            </a:r>
          </a:p>
        </p:txBody>
      </p:sp>
    </p:spTree>
    <p:extLst>
      <p:ext uri="{BB962C8B-B14F-4D97-AF65-F5344CB8AC3E}">
        <p14:creationId xmlns:p14="http://schemas.microsoft.com/office/powerpoint/2010/main" val="8904620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3423" y="2597789"/>
            <a:ext cx="11264622" cy="1446550"/>
          </a:xfrm>
          <a:prstGeom prst="rect">
            <a:avLst/>
          </a:prstGeom>
        </p:spPr>
        <p:txBody>
          <a:bodyPr wrap="none">
            <a:spAutoFit/>
          </a:bodyPr>
          <a:lstStyle/>
          <a:p>
            <a:r>
              <a:rPr lang="en-US" sz="8800" dirty="0">
                <a:solidFill>
                  <a:srgbClr val="0070C0"/>
                </a:solidFill>
                <a:latin typeface="Times New Roman" pitchFamily="18" charset="0"/>
                <a:cs typeface="Times New Roman" pitchFamily="18" charset="0"/>
              </a:rPr>
              <a:t>THANK YOU</a:t>
            </a:r>
            <a:r>
              <a:rPr lang="en-US" sz="8800" dirty="0">
                <a:solidFill>
                  <a:schemeClr val="accent1"/>
                </a:solidFill>
                <a:latin typeface="Times New Roman" pitchFamily="18" charset="0"/>
                <a:cs typeface="Times New Roman" pitchFamily="18" charset="0"/>
              </a:rPr>
              <a:t>		</a:t>
            </a:r>
            <a:r>
              <a:rPr lang="en-US" sz="6000" dirty="0">
                <a:solidFill>
                  <a:schemeClr val="accent1"/>
                </a:solidFill>
              </a:rPr>
              <a:t>			</a:t>
            </a:r>
          </a:p>
        </p:txBody>
      </p:sp>
    </p:spTree>
    <p:extLst>
      <p:ext uri="{BB962C8B-B14F-4D97-AF65-F5344CB8AC3E}">
        <p14:creationId xmlns:p14="http://schemas.microsoft.com/office/powerpoint/2010/main" val="156980656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362</TotalTime>
  <Words>1697</Words>
  <Application>Microsoft Office PowerPoint</Application>
  <PresentationFormat>Widescreen</PresentationFormat>
  <Paragraphs>204</Paragraphs>
  <Slides>29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Times New Roman</vt:lpstr>
      <vt:lpstr>Trebuchet MS</vt:lpstr>
      <vt:lpstr>Wingdings 3</vt:lpstr>
      <vt:lpstr>Facet</vt:lpstr>
      <vt:lpstr>PowerPoint Presentation</vt:lpstr>
      <vt:lpstr> ABSTRACT</vt:lpstr>
      <vt:lpstr> INTRODUCTION</vt:lpstr>
      <vt:lpstr> PROBLEM STATEMENT</vt:lpstr>
      <vt:lpstr> EXISTING SYSTEM</vt:lpstr>
      <vt:lpstr> DISADVANTAGES</vt:lpstr>
      <vt:lpstr> PROPOSED SYSTEM</vt:lpstr>
      <vt:lpstr> ADVANTAGES</vt:lpstr>
      <vt:lpstr>SYSTEM REQUIREMENTS</vt:lpstr>
      <vt:lpstr>PowerPoint Presentation</vt:lpstr>
      <vt:lpstr> SYSTEM DESIGN </vt:lpstr>
      <vt:lpstr> ALGORITHM USED</vt:lpstr>
      <vt:lpstr> UML DIAGRAMS</vt:lpstr>
      <vt:lpstr>  COLLABORATION DIAGRAM:</vt:lpstr>
      <vt:lpstr> SEQUENCE DIAGRAM:</vt:lpstr>
      <vt:lpstr> CLASS DIAGRAM:</vt:lpstr>
      <vt:lpstr> TESTCASES</vt:lpstr>
      <vt:lpstr> LANGUAGES USED</vt:lpstr>
      <vt:lpstr> METHODOLOGY</vt:lpstr>
      <vt:lpstr> IMPLEMENTATION</vt:lpstr>
      <vt:lpstr> RESULT ANALYSIS</vt:lpstr>
      <vt:lpstr>PowerPoint Presentation</vt:lpstr>
      <vt:lpstr>PowerPoint Presentation</vt:lpstr>
      <vt:lpstr>PowerPoint Presentation</vt:lpstr>
      <vt:lpstr>PowerPoint Presentation</vt:lpstr>
      <vt:lpstr> CONCLUSION</vt:lpstr>
      <vt:lpstr> FUTURE SCOPE</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shiva krishna</cp:lastModifiedBy>
  <cp:revision>43</cp:revision>
  <dcterms:created xsi:type="dcterms:W3CDTF">2025-10-17T11:59:25Z</dcterms:created>
  <dcterms:modified xsi:type="dcterms:W3CDTF">2025-10-22T12:23:23Z</dcterms:modified>
</cp:coreProperties>
</file>